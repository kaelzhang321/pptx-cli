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704552"/>
            <a:ext cx="7315200" cy="3734395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704552"/>
            <a:ext cx="7315200" cy="2857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4410373"/>
            <a:ext cx="7315200" cy="2857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61752"/>
            <a:ext cx="7315200" cy="662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AI产品规划文档库 V1.6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914400" y="1967210"/>
            <a:ext cx="731520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领导汇报</a:t>
            </a:r>
            <a:endParaRPr lang="en-US" sz="1704" dirty="0"/>
          </a:p>
        </p:txBody>
      </p:sp>
      <p:sp>
        <p:nvSpPr>
          <p:cNvPr id="8" name="Text 5"/>
          <p:cNvSpPr/>
          <p:nvPr/>
        </p:nvSpPr>
        <p:spPr>
          <a:xfrm>
            <a:off x="2736056" y="2883396"/>
            <a:ext cx="161270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汇报团队：</a:t>
            </a:r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产品规划团队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634508" y="2883396"/>
            <a:ext cx="17734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汇报日期：</a:t>
            </a:r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2026年3月18日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2465487" y="3447752"/>
            <a:ext cx="4213027" cy="5339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2465487" y="3447752"/>
            <a:ext cx="28575" cy="53399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9"/>
          <p:cNvSpPr/>
          <p:nvPr/>
        </p:nvSpPr>
        <p:spPr>
          <a:xfrm>
            <a:off x="2465487" y="3447752"/>
            <a:ext cx="4213027" cy="53399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九大P0产品 · 108项真实需求 · 完整规划体系已形成</a:t>
            </a:r>
            <a:endParaRPr lang="en-US" sz="119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文档库已达到高成熟度，覆盖率超过85%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现状快照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359098"/>
            <a:ext cx="4000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文档库结构已按四层完整整理：产品模块层、执行计划层、质量控制层、原始资料层。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939137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交付物全面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2253462"/>
            <a:ext cx="4000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九大P0产品均具备 PRD + 全年迭代计划 + Sprint甘特 + 月度人天视图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28625" y="2793513"/>
            <a:ext cx="4000500" cy="47327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2793513"/>
            <a:ext cx="28575" cy="473273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936388"/>
            <a:ext cx="3714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核心原则：所有结论可溯源到原始调研与版本演进记录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714875" y="1044773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需求覆盖数据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4714875" y="1359098"/>
            <a:ext cx="1508699" cy="3393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714875" y="1691283"/>
            <a:ext cx="1508699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4714875" y="1359098"/>
            <a:ext cx="1508699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覆盖状态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6223574" y="1359098"/>
            <a:ext cx="1211759" cy="3393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6223574" y="1691283"/>
            <a:ext cx="1211759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6223574" y="1359098"/>
            <a:ext cx="1211759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数量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7435332" y="1359098"/>
            <a:ext cx="1280043" cy="3393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7435332" y="1691283"/>
            <a:ext cx="128004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7435332" y="1359098"/>
            <a:ext cx="1280043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占比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714875" y="1694855"/>
            <a:ext cx="1508699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完全覆盖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223574" y="1694855"/>
            <a:ext cx="1211759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70项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7435332" y="1694855"/>
            <a:ext cx="1280043" cy="33932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64.8%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714875" y="2034183"/>
            <a:ext cx="1508699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部分覆盖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223574" y="2034183"/>
            <a:ext cx="1211759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24项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7435332" y="2034183"/>
            <a:ext cx="1280043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22.2%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714875" y="2377083"/>
            <a:ext cx="1508699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待补充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6223574" y="2377083"/>
            <a:ext cx="1211759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14项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7435332" y="2377083"/>
            <a:ext cx="1280043" cy="342900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13.0%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822031" y="2830711"/>
            <a:ext cx="228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合计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6330730" y="2830711"/>
            <a:ext cx="3250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108项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7542488" y="2822674"/>
            <a:ext cx="3357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714875" y="3280767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部门覆盖率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4714875" y="3595092"/>
            <a:ext cx="4000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护理部 100% · 健康管理部 85% · 短板集中在销售与营养师场景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三大背景风险已识别，防护机制已就位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环境与风险提示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359098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背景一：数据真实性保障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所有输入来自线下调研与业务档案，严格禁止虚构，质量控制目录与版本演进记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录作为双重防护。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28625" y="2122001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背景二：ROI为预测性数据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当前ROI与价值评估为预测性结论，上线后须依据真实运营数据进行复核与校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准。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2884903"/>
            <a:ext cx="400050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背景三：协同风险需加速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销售、营养师场景与跨部门协同行动慢于预期。若不加速推进，将拖慢整体交付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进度。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714875" y="1044773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风险防护机制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4714875" y="1394817"/>
            <a:ext cx="4000500" cy="106263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4714875" y="1394817"/>
            <a:ext cx="28575" cy="1062633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1537692"/>
            <a:ext cx="464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000625" y="1537692"/>
            <a:ext cx="3571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质量控制目录（逐项比对）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857750" y="1796653"/>
            <a:ext cx="464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000625" y="1796653"/>
            <a:ext cx="3571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版本演进记录（每次优化留痕）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857750" y="2055614"/>
            <a:ext cx="464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5000625" y="2055614"/>
            <a:ext cx="3571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月度评审节点（及时纠偏）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三层架构闭环，从能力底座到岗位终端全覆盖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93887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战略架构三层闭环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551087"/>
            <a:ext cx="4286250" cy="757238"/>
          </a:xfrm>
          <a:prstGeom prst="rect">
            <a:avLst/>
          </a:prstGeom>
          <a:solidFill>
            <a:srgbClr val="F7FAFC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1708249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 岗位工作台（终端）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571500" y="1986855"/>
            <a:ext cx="4000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管家 · 医生 · 护理 · 咨询师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436912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↑↓</a:t>
            </a:r>
            <a:endParaRPr lang="en-US" sz="1193" dirty="0"/>
          </a:p>
        </p:txBody>
      </p:sp>
      <p:sp>
        <p:nvSpPr>
          <p:cNvPr id="11" name="Shape 8"/>
          <p:cNvSpPr/>
          <p:nvPr/>
        </p:nvSpPr>
        <p:spPr>
          <a:xfrm>
            <a:off x="428625" y="2786955"/>
            <a:ext cx="4286250" cy="757238"/>
          </a:xfrm>
          <a:prstGeom prst="rect">
            <a:avLst/>
          </a:prstGeom>
          <a:solidFill>
            <a:srgbClr val="F7FAFC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2944118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 业务平台（连接层）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3222724"/>
            <a:ext cx="4000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预约系统 · 企微侧边栏 · 经营问数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28625" y="3672780"/>
            <a:ext cx="4286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↑↓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428625" y="4022824"/>
            <a:ext cx="4286250" cy="757238"/>
          </a:xfrm>
          <a:prstGeom prst="rect">
            <a:avLst/>
          </a:prstGeom>
          <a:solidFill>
            <a:srgbClr val="E2E8F0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" y="4179987"/>
            <a:ext cx="4000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能力中台（底座）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571500" y="4458593"/>
            <a:ext cx="4000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模型治理 · 知识库 · RAG工具 · API网关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143500" y="1729346"/>
            <a:ext cx="35718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两大核心抓手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314950" y="2043671"/>
            <a:ext cx="34004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AI技术中台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5314950" y="2266913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统一底层能力，降低重复建设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314950" y="2581238"/>
            <a:ext cx="34004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市场实施路径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314950" y="2804480"/>
            <a:ext cx="34004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分阶段推进，优先高价值场景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5143500" y="3404555"/>
            <a:ext cx="3571875" cy="768623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4" name="Text 21"/>
          <p:cNvSpPr/>
          <p:nvPr/>
        </p:nvSpPr>
        <p:spPr>
          <a:xfrm>
            <a:off x="5143500" y="3404555"/>
            <a:ext cx="3571875" cy="76862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AI部门职责分工确保跨角色联动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形成 "能力底座 → 业务平台 → 岗位终端" 的完整闭环。</a:t>
            </a:r>
            <a:pPr algn="l" indent="0" marL="0">
              <a:lnSpc>
                <a:spcPts val="1600"/>
              </a:lnSpc>
              <a:buNone/>
            </a:pP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标准化执行体系覆盖全年400+任务，节点全程留痕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三大计划元素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359098"/>
            <a:ext cx="2592651" cy="3964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748433"/>
            <a:ext cx="259265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359098"/>
            <a:ext cx="2592651" cy="396478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元素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3021276" y="1359098"/>
            <a:ext cx="3092295" cy="3964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3021276" y="1748433"/>
            <a:ext cx="309229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3021276" y="1359098"/>
            <a:ext cx="3092295" cy="396478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6113571" y="1359098"/>
            <a:ext cx="2601804" cy="3964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113571" y="1748433"/>
            <a:ext cx="260180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6113571" y="1359098"/>
            <a:ext cx="2601804" cy="396478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71500" y="1887736"/>
            <a:ext cx="12340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Atlassian四级版本体系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3021276" y="1752005"/>
            <a:ext cx="3092295" cy="396478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战略 / 平台 / 功能 / 维护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113571" y="1752005"/>
            <a:ext cx="2601804" cy="396478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顶层与底层对齐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571500" y="2287786"/>
            <a:ext cx="11930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 3-5-3会议节奏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021276" y="2148483"/>
            <a:ext cx="309229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Sprint甘特覆盖全年400+任务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6113571" y="2148483"/>
            <a:ext cx="2601804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执行可视化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571500" y="2687836"/>
            <a:ext cx="69651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12个月度计划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3021276" y="2548533"/>
            <a:ext cx="3092295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PMI五大过程组管理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6113571" y="2548533"/>
            <a:ext cx="2601804" cy="400050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人天 / 成本 / 风险全管控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28625" y="3237905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标准化闭环</a:t>
            </a:r>
            <a:endParaRPr lang="en-US" sz="987" dirty="0"/>
          </a:p>
        </p:txBody>
      </p:sp>
      <p:sp>
        <p:nvSpPr>
          <p:cNvPr id="26" name="Shape 23"/>
          <p:cNvSpPr/>
          <p:nvPr/>
        </p:nvSpPr>
        <p:spPr>
          <a:xfrm>
            <a:off x="428625" y="3552230"/>
            <a:ext cx="8286750" cy="63579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3552230"/>
            <a:ext cx="28575" cy="63579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8" name="Text 25"/>
          <p:cNvSpPr/>
          <p:nvPr/>
        </p:nvSpPr>
        <p:spPr>
          <a:xfrm>
            <a:off x="642938" y="3766542"/>
            <a:ext cx="143447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2077408" y="3766542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2248858" y="3766542"/>
            <a:ext cx="143447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3683329" y="3766542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32" name="Text 29"/>
          <p:cNvSpPr/>
          <p:nvPr/>
        </p:nvSpPr>
        <p:spPr>
          <a:xfrm>
            <a:off x="3854779" y="3766542"/>
            <a:ext cx="143447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5289249" y="3766542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5460699" y="3766542"/>
            <a:ext cx="143447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</a:t>
            </a:r>
            <a:endParaRPr lang="en-US" sz="987" dirty="0"/>
          </a:p>
        </p:txBody>
      </p:sp>
      <p:sp>
        <p:nvSpPr>
          <p:cNvPr id="35" name="Text 32"/>
          <p:cNvSpPr/>
          <p:nvPr/>
        </p:nvSpPr>
        <p:spPr>
          <a:xfrm>
            <a:off x="6895170" y="3766542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36" name="Text 33"/>
          <p:cNvSpPr/>
          <p:nvPr/>
        </p:nvSpPr>
        <p:spPr>
          <a:xfrm>
            <a:off x="7066620" y="3766542"/>
            <a:ext cx="143447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归档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428625" y="4330898"/>
            <a:ext cx="82867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任何结论都有节点留痕，支持全程审计与追溯。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三层技术架构驱动持续训练闭环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1000125" y="930473"/>
            <a:ext cx="7143750" cy="814388"/>
          </a:xfrm>
          <a:prstGeom prst="rect">
            <a:avLst/>
          </a:prstGeom>
          <a:solidFill>
            <a:srgbClr val="F7FAFC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07569" y="1016198"/>
            <a:ext cx="2328863" cy="2643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3407569" y="1016198"/>
            <a:ext cx="2328863" cy="264319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【应用层】P1~P5 岗位AI工作台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2436019" y="13376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36019" y="13376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管家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3307556" y="13376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07556" y="13376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医生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179094" y="13376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79094" y="13376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护理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5050631" y="13376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50631" y="13376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咨询师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5922169" y="13376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22169" y="13376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预约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1000125" y="1787723"/>
            <a:ext cx="7143750" cy="814388"/>
          </a:xfrm>
          <a:prstGeom prst="rect">
            <a:avLst/>
          </a:prstGeom>
          <a:solidFill>
            <a:srgbClr val="F7FAFC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75497" y="1873448"/>
            <a:ext cx="1193006" cy="2643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3975497" y="1873448"/>
            <a:ext cx="1193006" cy="264319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【业务中台层】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3617416" y="219491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17416" y="219491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P6 AI企微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4488954" y="2194917"/>
            <a:ext cx="1037630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88954" y="2194917"/>
            <a:ext cx="1037630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P7 数据分析平台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1000125" y="2644973"/>
            <a:ext cx="7143750" cy="814388"/>
          </a:xfrm>
          <a:prstGeom prst="rect">
            <a:avLst/>
          </a:prstGeom>
          <a:solidFill>
            <a:srgbClr val="F7FAFC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70077" y="2730698"/>
            <a:ext cx="2203847" cy="2643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3470077" y="2730698"/>
            <a:ext cx="2203847" cy="264319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【技术底座层】P8 AI技术中台</a:t>
            </a:r>
            <a:endParaRPr lang="en-US" sz="987" dirty="0"/>
          </a:p>
        </p:txBody>
      </p:sp>
      <p:sp>
        <p:nvSpPr>
          <p:cNvPr id="29" name="Shape 26"/>
          <p:cNvSpPr/>
          <p:nvPr/>
        </p:nvSpPr>
        <p:spPr>
          <a:xfrm>
            <a:off x="2853035" y="30521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53035" y="30521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模型治理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3724573" y="3052167"/>
            <a:ext cx="823317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24573" y="3052167"/>
            <a:ext cx="823317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知识库/RAG</a:t>
            </a:r>
            <a:endParaRPr lang="en-US" sz="784" dirty="0"/>
          </a:p>
        </p:txBody>
      </p:sp>
      <p:sp>
        <p:nvSpPr>
          <p:cNvPr id="33" name="Shape 30"/>
          <p:cNvSpPr/>
          <p:nvPr/>
        </p:nvSpPr>
        <p:spPr>
          <a:xfrm>
            <a:off x="4626471" y="30521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26471" y="30521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API网关</a:t>
            </a:r>
            <a:endParaRPr lang="en-US" sz="784" dirty="0"/>
          </a:p>
        </p:txBody>
      </p:sp>
      <p:sp>
        <p:nvSpPr>
          <p:cNvPr id="35" name="Shape 32"/>
          <p:cNvSpPr/>
          <p:nvPr/>
        </p:nvSpPr>
        <p:spPr>
          <a:xfrm>
            <a:off x="5498009" y="3052167"/>
            <a:ext cx="785813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98009" y="3052167"/>
            <a:ext cx="78581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工作流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1085850" y="3516511"/>
            <a:ext cx="132338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原始需求/运营数据输入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6963370" y="3516511"/>
            <a:ext cx="109478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合规/运营反馈输出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784" dirty="0"/>
          </a:p>
        </p:txBody>
      </p:sp>
      <p:sp>
        <p:nvSpPr>
          <p:cNvPr id="39" name="Shape 36"/>
          <p:cNvSpPr/>
          <p:nvPr/>
        </p:nvSpPr>
        <p:spPr>
          <a:xfrm>
            <a:off x="1000125" y="3837980"/>
            <a:ext cx="7143750" cy="6132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1000125" y="3837980"/>
            <a:ext cx="71437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Shape 38"/>
          <p:cNvSpPr/>
          <p:nvPr/>
        </p:nvSpPr>
        <p:spPr>
          <a:xfrm>
            <a:off x="8136731" y="3837980"/>
            <a:ext cx="7144" cy="61327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1000125" y="4444110"/>
            <a:ext cx="71437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0"/>
          <p:cNvSpPr/>
          <p:nvPr/>
        </p:nvSpPr>
        <p:spPr>
          <a:xfrm>
            <a:off x="1000125" y="3837980"/>
            <a:ext cx="28575" cy="61327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4" name="Text 41"/>
          <p:cNvSpPr/>
          <p:nvPr/>
        </p:nvSpPr>
        <p:spPr>
          <a:xfrm>
            <a:off x="1085850" y="3923705"/>
            <a:ext cx="69723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数据循环机制</a:t>
            </a:r>
            <a:endParaRPr lang="en-US" sz="885" dirty="0"/>
          </a:p>
        </p:txBody>
      </p:sp>
      <p:sp>
        <p:nvSpPr>
          <p:cNvPr id="45" name="Text 42"/>
          <p:cNvSpPr/>
          <p:nvPr/>
        </p:nvSpPr>
        <p:spPr>
          <a:xfrm>
            <a:off x="1085850" y="4168378"/>
            <a:ext cx="69723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P8底座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输出模型与知识能力 →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P5/P6/P7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连接渠道与数据 →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P1-P4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直接服务一线 → 反馈回写形成持续训练闭环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五大差异化亮点，构建与其他项目的核心竞争壁垒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216223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36" dirty="0"/>
          </a:p>
        </p:txBody>
      </p:sp>
      <p:sp>
        <p:nvSpPr>
          <p:cNvPr id="7" name="Text 4"/>
          <p:cNvSpPr/>
          <p:nvPr/>
        </p:nvSpPr>
        <p:spPr>
          <a:xfrm>
            <a:off x="428625" y="1630561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全链路可追溯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28625" y="1909167"/>
            <a:ext cx="25717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 → 规划 → 执行 → 质量 → 归档，全程留痕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3286125" y="1216223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3286125" y="1630561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严格数据真实性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286125" y="1909167"/>
            <a:ext cx="25717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线下调研 + 业务档案，质量控制双重保障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143625" y="1216223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6143625" y="1630561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Coding交付法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143625" y="1909167"/>
            <a:ext cx="25717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五人战队 + Prompt留存 + 知识库同步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28625" y="2549230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428625" y="2963568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投资风险闭环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428625" y="3242174"/>
            <a:ext cx="25717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首年ROI &gt; 100%，TOP3红色风险有对策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3286125" y="2549230"/>
            <a:ext cx="2571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3286125" y="2963568"/>
            <a:ext cx="2571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质控组合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3286125" y="3242174"/>
            <a:ext cx="25717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108项需求覆盖 + 度量体系 + AC验收 + 医疗合规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28625" y="4366282"/>
            <a:ext cx="8286750" cy="4914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4366282"/>
            <a:ext cx="28575" cy="49146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0"/>
          <p:cNvSpPr/>
          <p:nvPr/>
        </p:nvSpPr>
        <p:spPr>
          <a:xfrm>
            <a:off x="642938" y="4509157"/>
            <a:ext cx="78581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核心结论：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本项目在可追溯性、数据真实性、交付方法论、风险管控四个维度均优于行业同类项目。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18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7586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九大P0产品矩阵，每个产品均具备完整交付组合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产品群规划概览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173361"/>
            <a:ext cx="2071688" cy="2821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448395"/>
            <a:ext cx="20716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173361"/>
            <a:ext cx="2071688" cy="28217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层级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2500313" y="1173361"/>
            <a:ext cx="3107531" cy="2821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2500313" y="1448395"/>
            <a:ext cx="310753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2500313" y="1173361"/>
            <a:ext cx="3107531" cy="28217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607844" y="1173361"/>
            <a:ext cx="3107531" cy="2821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5607844" y="1448395"/>
            <a:ext cx="310753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5607844" y="1173361"/>
            <a:ext cx="3107531" cy="28217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28625" y="1451967"/>
            <a:ext cx="2071688" cy="28217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能力中台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500313" y="1451967"/>
            <a:ext cx="3107531" cy="28217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P8 AI技术中台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5607844" y="1451967"/>
            <a:ext cx="3107531" cy="282178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模型治理 · 知识库 · 服务编排底座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28625" y="1734145"/>
            <a:ext cx="2071688" cy="8572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业务平台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2500313" y="17341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 预约AI工作台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607844" y="17341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多渠道预约与排班统一管理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500313" y="201989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P6 AI企微侧边栏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5607844" y="201989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实时知识检索与动作触发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2500313" y="23056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P7 AI数据分析平台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5607844" y="23056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经营决策智能化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28625" y="2591395"/>
            <a:ext cx="2071688" cy="114300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岗位工作台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2500313" y="259139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健康管家AI工作台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5607844" y="259139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客户360视图 · 随访自动化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2500313" y="28771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医生AI诊疗工作台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5607844" y="28771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多模态病历 · AI诊疗建议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2500313" y="316289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护理AI执行工作台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5607844" y="316289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任务分单 · 异常预警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2500313" y="34486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P4 咨询师AI规划工作台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5607844" y="3448645"/>
            <a:ext cx="3107531" cy="285750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AI画像 · 方案试算</a:t>
            </a:r>
            <a:endParaRPr lang="en-US" sz="784" dirty="0"/>
          </a:p>
        </p:txBody>
      </p:sp>
      <p:sp>
        <p:nvSpPr>
          <p:cNvPr id="35" name="Shape 32"/>
          <p:cNvSpPr/>
          <p:nvPr/>
        </p:nvSpPr>
        <p:spPr>
          <a:xfrm>
            <a:off x="428625" y="3823692"/>
            <a:ext cx="8286750" cy="6143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428625" y="3823692"/>
            <a:ext cx="28575" cy="614363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7" name="Text 34"/>
          <p:cNvSpPr/>
          <p:nvPr/>
        </p:nvSpPr>
        <p:spPr>
          <a:xfrm>
            <a:off x="514350" y="3909417"/>
            <a:ext cx="8115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标准交付组合</a:t>
            </a:r>
            <a:endParaRPr lang="en-US" sz="987" dirty="0"/>
          </a:p>
        </p:txBody>
      </p:sp>
      <p:sp>
        <p:nvSpPr>
          <p:cNvPr id="38" name="Text 35"/>
          <p:cNvSpPr/>
          <p:nvPr/>
        </p:nvSpPr>
        <p:spPr>
          <a:xfrm>
            <a:off x="514350" y="4188023"/>
            <a:ext cx="8115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每个产品 = PRD + 迭代计划 + Sprint甘特 + 月度计划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P8 AI技术中台 — 全平台能力底座，Q3完成内测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600075" y="1044773"/>
            <a:ext cx="37576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定位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00075" y="1303734"/>
            <a:ext cx="37576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模型治理 + 知识资产 + 服务编排底座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772348"/>
            <a:ext cx="39290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六大核心模块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5" y="2086673"/>
            <a:ext cx="1910953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2086673"/>
            <a:ext cx="1910953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大模型管理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446734" y="2086673"/>
            <a:ext cx="1910953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46734" y="2086673"/>
            <a:ext cx="1910953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知识库 / RAG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28625" y="2572448"/>
            <a:ext cx="1910953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2572448"/>
            <a:ext cx="1910953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AI网关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446734" y="2572448"/>
            <a:ext cx="1910953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46734" y="2572448"/>
            <a:ext cx="1910953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工作流引擎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428625" y="3058223"/>
            <a:ext cx="1910953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058223"/>
            <a:ext cx="1910953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智能体框架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2446734" y="3058223"/>
            <a:ext cx="1910953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46734" y="3058223"/>
            <a:ext cx="1910953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评测监控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00075" y="3722591"/>
            <a:ext cx="37576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接入方式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600075" y="3981552"/>
            <a:ext cx="37576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统一API网关 + 服务总线，支持全平台标准化调用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786313" y="1044773"/>
            <a:ext cx="39290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关键里程碑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4786313" y="1359098"/>
            <a:ext cx="1178719" cy="38219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1734145"/>
            <a:ext cx="1178719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4786313" y="1359098"/>
            <a:ext cx="1178719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时间节点</a:t>
            </a:r>
            <a:endParaRPr lang="en-US" sz="784" dirty="0"/>
          </a:p>
        </p:txBody>
      </p:sp>
      <p:sp>
        <p:nvSpPr>
          <p:cNvPr id="27" name="Shape 24"/>
          <p:cNvSpPr/>
          <p:nvPr/>
        </p:nvSpPr>
        <p:spPr>
          <a:xfrm>
            <a:off x="5965031" y="1359098"/>
            <a:ext cx="2750344" cy="38219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5965031" y="1734145"/>
            <a:ext cx="275034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6"/>
          <p:cNvSpPr/>
          <p:nvPr/>
        </p:nvSpPr>
        <p:spPr>
          <a:xfrm>
            <a:off x="5965031" y="1359098"/>
            <a:ext cx="2750344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里程碑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786313" y="1737717"/>
            <a:ext cx="1178719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5965031" y="1737717"/>
            <a:ext cx="2750344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设计评审完成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786313" y="2119908"/>
            <a:ext cx="1178719" cy="38576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5965031" y="2119908"/>
            <a:ext cx="2750344" cy="38576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内测上线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4786313" y="2505670"/>
            <a:ext cx="1178719" cy="38576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5965031" y="2505670"/>
            <a:ext cx="2750344" cy="38576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跨部门知识同步完成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4786313" y="3180755"/>
            <a:ext cx="39290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目标指标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4964906" y="3495080"/>
            <a:ext cx="737592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API响应时延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5773936" y="3511153"/>
            <a:ext cx="5411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200ms</a:t>
            </a:r>
            <a:endParaRPr lang="en-US" sz="942" dirty="0"/>
          </a:p>
        </p:txBody>
      </p:sp>
      <p:sp>
        <p:nvSpPr>
          <p:cNvPr id="39" name="Text 36"/>
          <p:cNvSpPr/>
          <p:nvPr/>
        </p:nvSpPr>
        <p:spPr>
          <a:xfrm>
            <a:off x="4964906" y="3789759"/>
            <a:ext cx="6429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知识库覆盖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5679281" y="3789759"/>
            <a:ext cx="59828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5,000+ 篇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4964906" y="4084439"/>
            <a:ext cx="7715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模型调用成本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5807869" y="4084439"/>
            <a:ext cx="578644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 30%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健康管家AI工作台 — 每日节省2小时，触达准确率达90%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901898"/>
            <a:ext cx="4000500" cy="20716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194792"/>
            <a:ext cx="40005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管家需整合体检/问诊数据并制定个性化健康方案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1543385"/>
            <a:ext cx="4000500" cy="20716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四大功能模块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5" y="1836279"/>
            <a:ext cx="878681" cy="26431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1836279"/>
            <a:ext cx="878681" cy="264319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客户360视图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1378744" y="1836279"/>
            <a:ext cx="767953" cy="26431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8744" y="1836279"/>
            <a:ext cx="767953" cy="264319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AI随访脚本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2218134" y="1836279"/>
            <a:ext cx="642938" cy="26431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18134" y="1836279"/>
            <a:ext cx="642938" cy="264319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提醒看板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932509" y="1836279"/>
            <a:ext cx="891183" cy="26431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32509" y="1836279"/>
            <a:ext cx="891183" cy="264319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健康知识RAG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2229185"/>
            <a:ext cx="4000500" cy="20716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成熟度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28625" y="2522079"/>
            <a:ext cx="40005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需求覆盖率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，PRD &amp; 迭代计划齐备，自动随访机器人在研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714875" y="901898"/>
            <a:ext cx="1928813" cy="20716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业务流程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714875" y="1194792"/>
            <a:ext cx="1928813" cy="1434108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280517"/>
            <a:ext cx="835819" cy="358973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280517"/>
            <a:ext cx="835819" cy="35897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数据整合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5722144" y="1280517"/>
            <a:ext cx="835819" cy="358973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22144" y="1280517"/>
            <a:ext cx="835819" cy="35897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AI解读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4800600" y="1696641"/>
            <a:ext cx="835819" cy="358973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1696641"/>
            <a:ext cx="835819" cy="35897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方案生成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5722144" y="1696641"/>
            <a:ext cx="835819" cy="358973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22144" y="1696641"/>
            <a:ext cx="835819" cy="35897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随访执行</a:t>
            </a:r>
            <a:endParaRPr lang="en-US" sz="885" dirty="0"/>
          </a:p>
        </p:txBody>
      </p:sp>
      <p:sp>
        <p:nvSpPr>
          <p:cNvPr id="29" name="Shape 26"/>
          <p:cNvSpPr/>
          <p:nvPr/>
        </p:nvSpPr>
        <p:spPr>
          <a:xfrm>
            <a:off x="4800600" y="2112764"/>
            <a:ext cx="835819" cy="358973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2112764"/>
            <a:ext cx="835819" cy="35897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反馈回写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5722144" y="2112764"/>
            <a:ext cx="835819" cy="358973"/>
          </a:xfrm>
          <a:prstGeom prst="rect">
            <a:avLst/>
          </a:prstGeom>
          <a:solidFill>
            <a:srgbClr val="FFFFFF"/>
          </a:solidFill>
          <a:ln w="18288">
            <a:solidFill>
              <a:srgbClr val="2B6CB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22144" y="2112764"/>
            <a:ext cx="835819" cy="35897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总结优化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6786563" y="901898"/>
            <a:ext cx="1928813" cy="207169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价值指标</a:t>
            </a:r>
            <a:endParaRPr lang="en-US" sz="987" dirty="0"/>
          </a:p>
        </p:txBody>
      </p:sp>
      <p:sp>
        <p:nvSpPr>
          <p:cNvPr id="34" name="Shape 31"/>
          <p:cNvSpPr/>
          <p:nvPr/>
        </p:nvSpPr>
        <p:spPr>
          <a:xfrm>
            <a:off x="6786563" y="1194792"/>
            <a:ext cx="1227413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5" name="Shape 32"/>
          <p:cNvSpPr/>
          <p:nvPr/>
        </p:nvSpPr>
        <p:spPr>
          <a:xfrm>
            <a:off x="6786563" y="1493044"/>
            <a:ext cx="122741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3"/>
          <p:cNvSpPr/>
          <p:nvPr/>
        </p:nvSpPr>
        <p:spPr>
          <a:xfrm>
            <a:off x="6786563" y="1194792"/>
            <a:ext cx="1227413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指标</a:t>
            </a:r>
            <a:endParaRPr lang="en-US" sz="885" dirty="0"/>
          </a:p>
        </p:txBody>
      </p:sp>
      <p:sp>
        <p:nvSpPr>
          <p:cNvPr id="37" name="Shape 34"/>
          <p:cNvSpPr/>
          <p:nvPr/>
        </p:nvSpPr>
        <p:spPr>
          <a:xfrm>
            <a:off x="8013976" y="1194792"/>
            <a:ext cx="701399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Shape 35"/>
          <p:cNvSpPr/>
          <p:nvPr/>
        </p:nvSpPr>
        <p:spPr>
          <a:xfrm>
            <a:off x="8013976" y="1493044"/>
            <a:ext cx="701399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6"/>
          <p:cNvSpPr/>
          <p:nvPr/>
        </p:nvSpPr>
        <p:spPr>
          <a:xfrm>
            <a:off x="8013976" y="1194792"/>
            <a:ext cx="701399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目标值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6786563" y="1496616"/>
            <a:ext cx="1227413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管家每日节省时长</a:t>
            </a:r>
            <a:endParaRPr lang="en-US" sz="942" dirty="0"/>
          </a:p>
        </p:txBody>
      </p:sp>
      <p:sp>
        <p:nvSpPr>
          <p:cNvPr id="41" name="Text 38"/>
          <p:cNvSpPr/>
          <p:nvPr/>
        </p:nvSpPr>
        <p:spPr>
          <a:xfrm>
            <a:off x="8013976" y="1496616"/>
            <a:ext cx="701399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2小时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6786563" y="1802011"/>
            <a:ext cx="1227413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客户触达准确率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8013976" y="1802011"/>
            <a:ext cx="701399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90%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6786563" y="2110978"/>
            <a:ext cx="1227413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客户满意度</a:t>
            </a:r>
            <a:endParaRPr lang="en-US" sz="942" dirty="0"/>
          </a:p>
        </p:txBody>
      </p:sp>
      <p:sp>
        <p:nvSpPr>
          <p:cNvPr id="45" name="Text 42"/>
          <p:cNvSpPr/>
          <p:nvPr/>
        </p:nvSpPr>
        <p:spPr>
          <a:xfrm>
            <a:off x="8013976" y="2110978"/>
            <a:ext cx="701399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显著提升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医生AI诊疗工作台 — 记录时长缩短40%，诊断准确率≥90%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901898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266230"/>
            <a:ext cx="42862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门诊需读取多源病历并高效完成诊疗记录，减少医生文书工作负担。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663405"/>
            <a:ext cx="900113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四大功能模块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5" y="2099174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2099174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多模态病历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625328" y="2099174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25328" y="2099174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AI诊疗建议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28625" y="2584949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2584949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处方模板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625328" y="2584949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25328" y="2584949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术前术后提醒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3177880"/>
            <a:ext cx="4500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成熟度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3613649"/>
            <a:ext cx="4286250" cy="5943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613649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4707731" y="3613649"/>
            <a:ext cx="7144" cy="59432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200832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613649"/>
            <a:ext cx="28575" cy="594327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" y="3720805"/>
            <a:ext cx="4000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核心功能定义完成，聚焦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病历结构化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语音录入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两大方向，加速临床应用落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地。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143500" y="901898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价值指标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300663" y="1423392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</a:t>
            </a:r>
            <a:endParaRPr lang="en-US" sz="2436" dirty="0"/>
          </a:p>
        </p:txBody>
      </p:sp>
      <p:sp>
        <p:nvSpPr>
          <p:cNvPr id="26" name="Text 23"/>
          <p:cNvSpPr/>
          <p:nvPr/>
        </p:nvSpPr>
        <p:spPr>
          <a:xfrm>
            <a:off x="6443663" y="1536799"/>
            <a:ext cx="1028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诊疗记录时长缩短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5300663" y="2294930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≥90%</a:t>
            </a:r>
            <a:endParaRPr lang="en-US" sz="2436" dirty="0"/>
          </a:p>
        </p:txBody>
      </p:sp>
      <p:sp>
        <p:nvSpPr>
          <p:cNvPr id="28" name="Text 25"/>
          <p:cNvSpPr/>
          <p:nvPr/>
        </p:nvSpPr>
        <p:spPr>
          <a:xfrm>
            <a:off x="6443663" y="2408337"/>
            <a:ext cx="78224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AI诊断准确率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5300663" y="3166467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436" dirty="0"/>
          </a:p>
        </p:txBody>
      </p:sp>
      <p:sp>
        <p:nvSpPr>
          <p:cNvPr id="30" name="Text 27"/>
          <p:cNvSpPr/>
          <p:nvPr/>
        </p:nvSpPr>
        <p:spPr>
          <a:xfrm>
            <a:off x="6443663" y="3279874"/>
            <a:ext cx="7715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合规提示覆盖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5143500" y="4018750"/>
            <a:ext cx="3571875" cy="981875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2" name="Text 29"/>
          <p:cNvSpPr/>
          <p:nvPr/>
        </p:nvSpPr>
        <p:spPr>
          <a:xfrm>
            <a:off x="5322094" y="4197344"/>
            <a:ext cx="32146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医疗合规保障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5322094" y="4456305"/>
            <a:ext cx="32146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所有AI建议均附带合规提示，确保医疗安全与法规遵从，降低临床决策风险。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护理AI执行工作台 — 需求100%覆盖，执行偏差率&lt;2%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930473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244798"/>
            <a:ext cx="38862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护理任务繁杂、跨班交接易丢信息，需要智能化管理以提升执行准确率与交接效率。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739112"/>
            <a:ext cx="900113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四大功能模块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5" y="2110587"/>
            <a:ext cx="1907381" cy="32146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2110587"/>
            <a:ext cx="1907381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任务分单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407444" y="2110587"/>
            <a:ext cx="1907381" cy="32146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07444" y="2110587"/>
            <a:ext cx="1907381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AI提醒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28625" y="2489206"/>
            <a:ext cx="1907381" cy="32146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2489206"/>
            <a:ext cx="1907381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执行自动记录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407444" y="2489206"/>
            <a:ext cx="1907381" cy="321469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07444" y="2489206"/>
            <a:ext cx="1907381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异常预警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2924975"/>
            <a:ext cx="750094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成熟度亮点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3296450"/>
            <a:ext cx="3886200" cy="651477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9" name="Text 16"/>
          <p:cNvSpPr/>
          <p:nvPr/>
        </p:nvSpPr>
        <p:spPr>
          <a:xfrm>
            <a:off x="514350" y="3382175"/>
            <a:ext cx="3714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护理部11项需求 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100%覆盖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护理知识库共建完成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4600575" y="930473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执行流程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4600575" y="1244798"/>
            <a:ext cx="4114800" cy="2196703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86300" y="1330523"/>
            <a:ext cx="3943350" cy="287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686300" y="1330523"/>
            <a:ext cx="28575" cy="28753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1"/>
          <p:cNvSpPr/>
          <p:nvPr/>
        </p:nvSpPr>
        <p:spPr>
          <a:xfrm>
            <a:off x="4686300" y="1330523"/>
            <a:ext cx="3943350" cy="28753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排班</a:t>
            </a:r>
            <a:endParaRPr lang="en-US" sz="784" dirty="0"/>
          </a:p>
        </p:txBody>
      </p:sp>
      <p:sp>
        <p:nvSpPr>
          <p:cNvPr id="25" name="Shape 22"/>
          <p:cNvSpPr/>
          <p:nvPr/>
        </p:nvSpPr>
        <p:spPr>
          <a:xfrm>
            <a:off x="4686300" y="1675209"/>
            <a:ext cx="3943350" cy="287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686300" y="1675209"/>
            <a:ext cx="28575" cy="28753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7" name="Text 24"/>
          <p:cNvSpPr/>
          <p:nvPr/>
        </p:nvSpPr>
        <p:spPr>
          <a:xfrm>
            <a:off x="4686300" y="1675209"/>
            <a:ext cx="3943350" cy="28753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任务分发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4686300" y="2019895"/>
            <a:ext cx="3943350" cy="287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686300" y="2019895"/>
            <a:ext cx="28575" cy="28753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0" name="Text 27"/>
          <p:cNvSpPr/>
          <p:nvPr/>
        </p:nvSpPr>
        <p:spPr>
          <a:xfrm>
            <a:off x="4686300" y="2019895"/>
            <a:ext cx="3943350" cy="28753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AI提醒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4686300" y="2364581"/>
            <a:ext cx="3943350" cy="287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4686300" y="2364581"/>
            <a:ext cx="28575" cy="28753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Text 30"/>
          <p:cNvSpPr/>
          <p:nvPr/>
        </p:nvSpPr>
        <p:spPr>
          <a:xfrm>
            <a:off x="4686300" y="2364581"/>
            <a:ext cx="3943350" cy="28753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执行记录</a:t>
            </a:r>
            <a:endParaRPr lang="en-US" sz="784" dirty="0"/>
          </a:p>
        </p:txBody>
      </p:sp>
      <p:sp>
        <p:nvSpPr>
          <p:cNvPr id="34" name="Shape 31"/>
          <p:cNvSpPr/>
          <p:nvPr/>
        </p:nvSpPr>
        <p:spPr>
          <a:xfrm>
            <a:off x="4686300" y="2709267"/>
            <a:ext cx="3943350" cy="287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4686300" y="2709267"/>
            <a:ext cx="28575" cy="28753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6" name="Text 33"/>
          <p:cNvSpPr/>
          <p:nvPr/>
        </p:nvSpPr>
        <p:spPr>
          <a:xfrm>
            <a:off x="4686300" y="2709267"/>
            <a:ext cx="3943350" cy="28753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异常预警</a:t>
            </a:r>
            <a:endParaRPr lang="en-US" sz="784" dirty="0"/>
          </a:p>
        </p:txBody>
      </p:sp>
      <p:sp>
        <p:nvSpPr>
          <p:cNvPr id="37" name="Shape 34"/>
          <p:cNvSpPr/>
          <p:nvPr/>
        </p:nvSpPr>
        <p:spPr>
          <a:xfrm>
            <a:off x="4686300" y="3053953"/>
            <a:ext cx="3943350" cy="2875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4686300" y="3053953"/>
            <a:ext cx="28575" cy="287536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9" name="Text 36"/>
          <p:cNvSpPr/>
          <p:nvPr/>
        </p:nvSpPr>
        <p:spPr>
          <a:xfrm>
            <a:off x="4686300" y="3053953"/>
            <a:ext cx="3943350" cy="287536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交接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4600575" y="3555802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价值指标</a:t>
            </a:r>
            <a:endParaRPr lang="en-US" sz="987" dirty="0"/>
          </a:p>
        </p:txBody>
      </p:sp>
      <p:sp>
        <p:nvSpPr>
          <p:cNvPr id="41" name="Shape 38"/>
          <p:cNvSpPr/>
          <p:nvPr/>
        </p:nvSpPr>
        <p:spPr>
          <a:xfrm>
            <a:off x="4600575" y="3929063"/>
            <a:ext cx="1314450" cy="78224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00588" y="4007644"/>
            <a:ext cx="579090" cy="625078"/>
          </a:xfrm>
          <a:prstGeom prst="rect">
            <a:avLst/>
          </a:prstGeom>
          <a:noFill/>
          <a:ln/>
        </p:spPr>
        <p:txBody>
          <a:bodyPr wrap="square" lIns="0" tIns="0" rIns="102108" bIns="0" rtlCol="0" anchor="t">
            <a:sp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2%</a:t>
            </a:r>
            <a:endParaRPr lang="en-US" sz="1808" dirty="0"/>
          </a:p>
        </p:txBody>
      </p:sp>
      <p:sp>
        <p:nvSpPr>
          <p:cNvPr id="43" name="Text 40"/>
          <p:cNvSpPr/>
          <p:nvPr/>
        </p:nvSpPr>
        <p:spPr>
          <a:xfrm>
            <a:off x="5422553" y="4132659"/>
            <a:ext cx="406747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执行偏差率</a:t>
            </a:r>
            <a:endParaRPr lang="en-US" sz="885" dirty="0"/>
          </a:p>
        </p:txBody>
      </p:sp>
      <p:sp>
        <p:nvSpPr>
          <p:cNvPr id="44" name="Shape 41"/>
          <p:cNvSpPr/>
          <p:nvPr/>
        </p:nvSpPr>
        <p:spPr>
          <a:xfrm>
            <a:off x="6000750" y="3960316"/>
            <a:ext cx="1314450" cy="71973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00763" y="4163913"/>
            <a:ext cx="716161" cy="312539"/>
          </a:xfrm>
          <a:prstGeom prst="rect">
            <a:avLst/>
          </a:prstGeom>
          <a:noFill/>
          <a:ln/>
        </p:spPr>
        <p:txBody>
          <a:bodyPr wrap="none" lIns="0" tIns="0" rIns="102108" bIns="0" rtlCol="0" anchor="t">
            <a:sp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808" dirty="0"/>
          </a:p>
        </p:txBody>
      </p:sp>
      <p:sp>
        <p:nvSpPr>
          <p:cNvPr id="46" name="Text 43"/>
          <p:cNvSpPr/>
          <p:nvPr/>
        </p:nvSpPr>
        <p:spPr>
          <a:xfrm>
            <a:off x="6959798" y="4038898"/>
            <a:ext cx="269677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交接耗时减少</a:t>
            </a:r>
            <a:endParaRPr lang="en-US" sz="885" dirty="0"/>
          </a:p>
        </p:txBody>
      </p:sp>
      <p:sp>
        <p:nvSpPr>
          <p:cNvPr id="47" name="Shape 44"/>
          <p:cNvSpPr/>
          <p:nvPr/>
        </p:nvSpPr>
        <p:spPr>
          <a:xfrm>
            <a:off x="7400925" y="3870127"/>
            <a:ext cx="1314450" cy="9001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500938" y="3941564"/>
            <a:ext cx="538795" cy="742950"/>
          </a:xfrm>
          <a:prstGeom prst="rect">
            <a:avLst/>
          </a:prstGeom>
          <a:noFill/>
          <a:ln/>
        </p:spPr>
        <p:txBody>
          <a:bodyPr wrap="square" lIns="0" tIns="0" rIns="102108" bIns="0" rtlCol="0" anchor="t">
            <a:sp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</a:t>
            </a:r>
            <a:endParaRPr lang="en-US" sz="1808" dirty="0"/>
          </a:p>
        </p:txBody>
      </p:sp>
      <p:sp>
        <p:nvSpPr>
          <p:cNvPr id="49" name="Text 46"/>
          <p:cNvSpPr/>
          <p:nvPr/>
        </p:nvSpPr>
        <p:spPr>
          <a:xfrm>
            <a:off x="8182608" y="4125516"/>
            <a:ext cx="447042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异常预警响应</a:t>
            </a:r>
            <a:endParaRPr lang="en-US" sz="88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P4 咨询师AI规划工作台 — 方案通过率+15%，NPS提升10分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901898"/>
            <a:ext cx="600075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209080"/>
            <a:ext cx="42862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咨询师需制定治疗/消耗方案、全程管理客户旅程，提升转化与满意度。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520530"/>
            <a:ext cx="900113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五大功能模块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5" y="1884862"/>
            <a:ext cx="1371600" cy="29289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1884862"/>
            <a:ext cx="1371600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AI客户画像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1885950" y="1884862"/>
            <a:ext cx="1371600" cy="29289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5950" y="1884862"/>
            <a:ext cx="1371600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方案试算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3343275" y="1884862"/>
            <a:ext cx="1371600" cy="29289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43275" y="1884862"/>
            <a:ext cx="1371600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病例互通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428625" y="2249193"/>
            <a:ext cx="2100263" cy="29289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8625" y="2249193"/>
            <a:ext cx="210026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工作量核算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2614613" y="2249193"/>
            <a:ext cx="2100263" cy="29289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14613" y="2249193"/>
            <a:ext cx="210026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术前术后提醒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28625" y="2656387"/>
            <a:ext cx="450056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成熟度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28625" y="3020718"/>
            <a:ext cx="4286250" cy="3686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020718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9"/>
          <p:cNvSpPr/>
          <p:nvPr/>
        </p:nvSpPr>
        <p:spPr>
          <a:xfrm>
            <a:off x="4707731" y="3020718"/>
            <a:ext cx="7144" cy="36860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3382175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3020718"/>
            <a:ext cx="28575" cy="368601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5" name="Text 22"/>
          <p:cNvSpPr/>
          <p:nvPr/>
        </p:nvSpPr>
        <p:spPr>
          <a:xfrm>
            <a:off x="542925" y="3106443"/>
            <a:ext cx="40576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V1.6新增功能已纳入，强化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AI口径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合规话术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，全面支持咨询业务。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5143500" y="901898"/>
            <a:ext cx="600075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价值指标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5243513" y="1309092"/>
            <a:ext cx="1143000" cy="414338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+15%</a:t>
            </a:r>
            <a:endParaRPr lang="en-US" sz="2436" dirty="0"/>
          </a:p>
        </p:txBody>
      </p:sp>
      <p:sp>
        <p:nvSpPr>
          <p:cNvPr id="28" name="Text 25"/>
          <p:cNvSpPr/>
          <p:nvPr/>
        </p:nvSpPr>
        <p:spPr>
          <a:xfrm>
            <a:off x="6500813" y="1422499"/>
            <a:ext cx="9001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方案通过率提升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5243513" y="2009180"/>
            <a:ext cx="1143000" cy="496491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+10分</a:t>
            </a:r>
            <a:endParaRPr lang="en-US" sz="2436" dirty="0"/>
          </a:p>
        </p:txBody>
      </p:sp>
      <p:sp>
        <p:nvSpPr>
          <p:cNvPr id="30" name="Text 27"/>
          <p:cNvSpPr/>
          <p:nvPr/>
        </p:nvSpPr>
        <p:spPr>
          <a:xfrm>
            <a:off x="6500813" y="2163663"/>
            <a:ext cx="103941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NPS净推荐值提升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5243513" y="2791420"/>
            <a:ext cx="1143000" cy="414338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436" dirty="0"/>
          </a:p>
        </p:txBody>
      </p:sp>
      <p:sp>
        <p:nvSpPr>
          <p:cNvPr id="32" name="Text 29"/>
          <p:cNvSpPr/>
          <p:nvPr/>
        </p:nvSpPr>
        <p:spPr>
          <a:xfrm>
            <a:off x="6500813" y="2904827"/>
            <a:ext cx="9001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升单流程可追溯</a:t>
            </a:r>
            <a:endParaRPr lang="en-US" sz="885" dirty="0"/>
          </a:p>
        </p:txBody>
      </p:sp>
      <p:sp>
        <p:nvSpPr>
          <p:cNvPr id="33" name="Shape 30"/>
          <p:cNvSpPr/>
          <p:nvPr/>
        </p:nvSpPr>
        <p:spPr>
          <a:xfrm>
            <a:off x="5143500" y="4233063"/>
            <a:ext cx="3571875" cy="8390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4" name="Text 31"/>
          <p:cNvSpPr/>
          <p:nvPr/>
        </p:nvSpPr>
        <p:spPr>
          <a:xfrm>
            <a:off x="5257800" y="4347363"/>
            <a:ext cx="33432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合规亮点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5257800" y="4592036"/>
            <a:ext cx="33432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AI话术与合规口径同步，确保咨询过程规范可审计，降低业务合规风险。</a:t>
            </a:r>
            <a:endParaRPr lang="en-US" sz="83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 预约部AI工作台 — 预约确认率95%，资源利用率+20%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409105"/>
            <a:ext cx="42862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多渠道预约与排班需要统一管理，提升资源利用效率。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806280"/>
            <a:ext cx="900113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四大功能模块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5" y="2242049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2242049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智能排班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625328" y="2242049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25328" y="2242049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AI通话质检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28625" y="2727824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2727824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自动回访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625328" y="2727824"/>
            <a:ext cx="2089547" cy="392906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25328" y="2727824"/>
            <a:ext cx="208954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客户旅程同步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3320755"/>
            <a:ext cx="4500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成熟度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3756524"/>
            <a:ext cx="4286250" cy="4114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756524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4707731" y="3756524"/>
            <a:ext cx="7144" cy="4114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160844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756524"/>
            <a:ext cx="28575" cy="411463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" y="3863680"/>
            <a:ext cx="400050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核心流程已跑通，迭代聚焦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质检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人效仪表盘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，持续优化运营效率。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143500" y="1044773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价值指标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300663" y="1566267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endParaRPr lang="en-US" sz="2436" dirty="0"/>
          </a:p>
        </p:txBody>
      </p:sp>
      <p:sp>
        <p:nvSpPr>
          <p:cNvPr id="26" name="Text 23"/>
          <p:cNvSpPr/>
          <p:nvPr/>
        </p:nvSpPr>
        <p:spPr>
          <a:xfrm>
            <a:off x="6443663" y="1679674"/>
            <a:ext cx="6429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预约确认率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5300663" y="2437805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&gt;80%</a:t>
            </a:r>
            <a:endParaRPr lang="en-US" sz="2436" dirty="0"/>
          </a:p>
        </p:txBody>
      </p:sp>
      <p:sp>
        <p:nvSpPr>
          <p:cNvPr id="28" name="Text 25"/>
          <p:cNvSpPr/>
          <p:nvPr/>
        </p:nvSpPr>
        <p:spPr>
          <a:xfrm>
            <a:off x="6443663" y="2551212"/>
            <a:ext cx="782241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AI质检覆盖率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5300663" y="3309342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+20%</a:t>
            </a:r>
            <a:endParaRPr lang="en-US" sz="2436" dirty="0"/>
          </a:p>
        </p:txBody>
      </p:sp>
      <p:sp>
        <p:nvSpPr>
          <p:cNvPr id="30" name="Text 27"/>
          <p:cNvSpPr/>
          <p:nvPr/>
        </p:nvSpPr>
        <p:spPr>
          <a:xfrm>
            <a:off x="6443663" y="3422749"/>
            <a:ext cx="9001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资源利用率提升</a:t>
            </a:r>
            <a:endParaRPr lang="en-US" sz="88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P6 AI企微侧边栏 — 响应时长-30%，话术采纳率≥40%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23317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151930"/>
            <a:ext cx="42862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企微对话缺乏实时知识支撑与动作触发能力，导致响应慢、服务不标准。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513387"/>
            <a:ext cx="750094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侧边栏结构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42913" y="1927724"/>
            <a:ext cx="2543175" cy="571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442913" y="2492080"/>
            <a:ext cx="25431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442913" y="1927724"/>
            <a:ext cx="2543175" cy="5715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会话内容展示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42913" y="2499224"/>
            <a:ext cx="2543175" cy="71437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2913" y="3206455"/>
            <a:ext cx="25431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442913" y="2499224"/>
            <a:ext cx="2543175" cy="7143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AI摘要 / 建议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442913" y="3213599"/>
            <a:ext cx="2543175" cy="42862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3"/>
          <p:cNvSpPr/>
          <p:nvPr/>
        </p:nvSpPr>
        <p:spPr>
          <a:xfrm>
            <a:off x="442913" y="3213599"/>
            <a:ext cx="2543175" cy="4286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快捷按钮操作区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3835105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四大功能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4235155"/>
            <a:ext cx="2089547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8625" y="4235155"/>
            <a:ext cx="2089547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对话摘要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2625328" y="4235155"/>
            <a:ext cx="2089547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25328" y="4235155"/>
            <a:ext cx="2089547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智能回复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428625" y="4678068"/>
            <a:ext cx="2089547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8625" y="4678068"/>
            <a:ext cx="2089547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知识检索</a:t>
            </a:r>
            <a:endParaRPr lang="en-US" sz="784" dirty="0"/>
          </a:p>
        </p:txBody>
      </p:sp>
      <p:sp>
        <p:nvSpPr>
          <p:cNvPr id="24" name="Shape 21"/>
          <p:cNvSpPr/>
          <p:nvPr/>
        </p:nvSpPr>
        <p:spPr>
          <a:xfrm>
            <a:off x="2625328" y="4678068"/>
            <a:ext cx="2089547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25328" y="4678068"/>
            <a:ext cx="2089547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一键建单/预约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5143500" y="823317"/>
            <a:ext cx="4500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成熟度</a:t>
            </a:r>
            <a:endParaRPr lang="en-US" sz="987" dirty="0"/>
          </a:p>
        </p:txBody>
      </p:sp>
      <p:sp>
        <p:nvSpPr>
          <p:cNvPr id="27" name="Shape 24"/>
          <p:cNvSpPr/>
          <p:nvPr/>
        </p:nvSpPr>
        <p:spPr>
          <a:xfrm>
            <a:off x="5143500" y="1223367"/>
            <a:ext cx="3571875" cy="4114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143500" y="1223367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Shape 26"/>
          <p:cNvSpPr/>
          <p:nvPr/>
        </p:nvSpPr>
        <p:spPr>
          <a:xfrm>
            <a:off x="8708231" y="1223367"/>
            <a:ext cx="7144" cy="41146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7"/>
          <p:cNvSpPr/>
          <p:nvPr/>
        </p:nvSpPr>
        <p:spPr>
          <a:xfrm>
            <a:off x="5143500" y="1627687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8"/>
          <p:cNvSpPr/>
          <p:nvPr/>
        </p:nvSpPr>
        <p:spPr>
          <a:xfrm>
            <a:off x="5143500" y="1223367"/>
            <a:ext cx="28575" cy="411463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2" name="Text 29"/>
          <p:cNvSpPr/>
          <p:nvPr/>
        </p:nvSpPr>
        <p:spPr>
          <a:xfrm>
            <a:off x="5286375" y="1330523"/>
            <a:ext cx="3286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插件原型完成，下一步连接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服务台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，实现业务闭环。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5143500" y="1799137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价值指标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5300663" y="2356349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2436" dirty="0"/>
          </a:p>
        </p:txBody>
      </p:sp>
      <p:sp>
        <p:nvSpPr>
          <p:cNvPr id="35" name="Text 32"/>
          <p:cNvSpPr/>
          <p:nvPr/>
        </p:nvSpPr>
        <p:spPr>
          <a:xfrm>
            <a:off x="6443663" y="2469756"/>
            <a:ext cx="7715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响应时长缩短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5300663" y="3227887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2436" dirty="0"/>
          </a:p>
        </p:txBody>
      </p:sp>
      <p:sp>
        <p:nvSpPr>
          <p:cNvPr id="37" name="Text 34"/>
          <p:cNvSpPr/>
          <p:nvPr/>
        </p:nvSpPr>
        <p:spPr>
          <a:xfrm>
            <a:off x="6443663" y="3341294"/>
            <a:ext cx="6429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客诉率降低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5300663" y="4099424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≥40%</a:t>
            </a:r>
            <a:endParaRPr lang="en-US" sz="2436" dirty="0"/>
          </a:p>
        </p:txBody>
      </p:sp>
      <p:sp>
        <p:nvSpPr>
          <p:cNvPr id="39" name="Text 36"/>
          <p:cNvSpPr/>
          <p:nvPr/>
        </p:nvSpPr>
        <p:spPr>
          <a:xfrm>
            <a:off x="6443663" y="4212831"/>
            <a:ext cx="6429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话术采纳率</a:t>
            </a:r>
            <a:endParaRPr lang="en-US" sz="88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P7 AI数据分析平台 — 决策周期-50%，手工统计-80%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428625" y="1387673"/>
            <a:ext cx="42862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经营数据分散、决策滞后，需要统一智能分析平台以提升管理效能。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699124"/>
            <a:ext cx="900113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四大功能模块</a:t>
            </a:r>
            <a:endParaRPr lang="en-US" sz="987" dirty="0"/>
          </a:p>
        </p:txBody>
      </p:sp>
      <p:sp>
        <p:nvSpPr>
          <p:cNvPr id="9" name="Shape 6"/>
          <p:cNvSpPr/>
          <p:nvPr/>
        </p:nvSpPr>
        <p:spPr>
          <a:xfrm>
            <a:off x="428625" y="2099174"/>
            <a:ext cx="2100263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8625" y="2099174"/>
            <a:ext cx="210026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统一指标体系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2614613" y="2099174"/>
            <a:ext cx="2100263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14613" y="2099174"/>
            <a:ext cx="210026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实时看板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28625" y="2520655"/>
            <a:ext cx="2100263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2520655"/>
            <a:ext cx="210026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AI问数（自然语言查询）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614613" y="2520655"/>
            <a:ext cx="2100263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14613" y="2520655"/>
            <a:ext cx="2100263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异常监测预警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2984999"/>
            <a:ext cx="45005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成熟度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3385049"/>
            <a:ext cx="4286250" cy="36860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385049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4707731" y="3385049"/>
            <a:ext cx="7144" cy="36860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746506"/>
            <a:ext cx="42862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385049"/>
            <a:ext cx="28575" cy="368601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3" name="Text 20"/>
          <p:cNvSpPr/>
          <p:nvPr/>
        </p:nvSpPr>
        <p:spPr>
          <a:xfrm>
            <a:off x="542925" y="3470774"/>
            <a:ext cx="405765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度量体系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风险矩阵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已上线，多源数据接入进行中，逐步实现全域数据覆盖。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5143500" y="1044773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价值指标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243513" y="1487686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2436" dirty="0"/>
          </a:p>
        </p:txBody>
      </p:sp>
      <p:sp>
        <p:nvSpPr>
          <p:cNvPr id="26" name="Text 23"/>
          <p:cNvSpPr/>
          <p:nvPr/>
        </p:nvSpPr>
        <p:spPr>
          <a:xfrm>
            <a:off x="6386513" y="1601093"/>
            <a:ext cx="7715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决策周期缩短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5243513" y="2202061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T+1</a:t>
            </a:r>
            <a:endParaRPr lang="en-US" sz="2436" dirty="0"/>
          </a:p>
        </p:txBody>
      </p:sp>
      <p:sp>
        <p:nvSpPr>
          <p:cNvPr id="28" name="Text 25"/>
          <p:cNvSpPr/>
          <p:nvPr/>
        </p:nvSpPr>
        <p:spPr>
          <a:xfrm>
            <a:off x="6386513" y="2315468"/>
            <a:ext cx="7715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异常预警时效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5243513" y="2916436"/>
            <a:ext cx="1000125" cy="414338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2436" dirty="0"/>
          </a:p>
        </p:txBody>
      </p:sp>
      <p:sp>
        <p:nvSpPr>
          <p:cNvPr id="30" name="Text 27"/>
          <p:cNvSpPr/>
          <p:nvPr/>
        </p:nvSpPr>
        <p:spPr>
          <a:xfrm>
            <a:off x="6386513" y="3029843"/>
            <a:ext cx="7715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手工统计减少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5143500" y="4104475"/>
            <a:ext cx="3571875" cy="89615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2" name="Text 29"/>
          <p:cNvSpPr/>
          <p:nvPr/>
        </p:nvSpPr>
        <p:spPr>
          <a:xfrm>
            <a:off x="5286375" y="4247350"/>
            <a:ext cx="328612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战略价值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5286375" y="4492023"/>
            <a:ext cx="328612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为管理层提供实时经营洞察，支撑数据驱动决策文化建设，实现从经验管理向科学管理的跨越。</a:t>
            </a:r>
            <a:endParaRPr lang="en-US" sz="83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统一支撑体系确保标准可复用、合规可审计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900113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四大支撑体系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409105"/>
            <a:ext cx="4143375" cy="4196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821656"/>
            <a:ext cx="41433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409105"/>
            <a:ext cx="4143375" cy="419695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支撑类型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4572000" y="1409105"/>
            <a:ext cx="4143375" cy="4196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821656"/>
            <a:ext cx="41433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409105"/>
            <a:ext cx="4143375" cy="419695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具体内容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28625" y="1825228"/>
            <a:ext cx="4143375" cy="419695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统一模板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750594" y="1964531"/>
            <a:ext cx="2875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109567" y="1964531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229225" y="1964531"/>
            <a:ext cx="5643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迭代计划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865019" y="1964531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984677" y="1964531"/>
            <a:ext cx="5643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月度计划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6620470" y="1964531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6740128" y="1964531"/>
            <a:ext cx="3071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甘特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7118747" y="1964531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7238405" y="1964531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组合矩阵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28625" y="2244923"/>
            <a:ext cx="4143375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AI特有章节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4750594" y="2387798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模型规格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361384" y="2387798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5481042" y="2387798"/>
            <a:ext cx="5840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RAG架构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6136481" y="2387798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6256139" y="2387798"/>
            <a:ext cx="5750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AI工作流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6902648" y="2387798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7022306" y="2387798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提示工程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428625" y="2668191"/>
            <a:ext cx="4143375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合规专题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4750594" y="2811066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需求背景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5361384" y="2811066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5481042" y="2811066"/>
            <a:ext cx="5643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医疗合规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116836" y="2811066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6236494" y="2811066"/>
            <a:ext cx="7304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验收标准AC</a:t>
            </a:r>
            <a:endParaRPr lang="en-US" sz="885" dirty="0"/>
          </a:p>
        </p:txBody>
      </p:sp>
      <p:sp>
        <p:nvSpPr>
          <p:cNvPr id="37" name="Text 34"/>
          <p:cNvSpPr/>
          <p:nvPr/>
        </p:nvSpPr>
        <p:spPr>
          <a:xfrm>
            <a:off x="428625" y="3091458"/>
            <a:ext cx="4143375" cy="423267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协作规范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4750594" y="3234333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提交校验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5361384" y="3234333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5481042" y="3234333"/>
            <a:ext cx="5643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版本命名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6116836" y="3234333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6236494" y="3234333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审核流程</a:t>
            </a:r>
            <a:endParaRPr lang="en-US" sz="885" dirty="0"/>
          </a:p>
        </p:txBody>
      </p:sp>
      <p:sp>
        <p:nvSpPr>
          <p:cNvPr id="43" name="Shape 40"/>
          <p:cNvSpPr/>
          <p:nvPr/>
        </p:nvSpPr>
        <p:spPr>
          <a:xfrm>
            <a:off x="428625" y="3960512"/>
            <a:ext cx="4000500" cy="89723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4" name="Shape 41"/>
          <p:cNvSpPr/>
          <p:nvPr/>
        </p:nvSpPr>
        <p:spPr>
          <a:xfrm>
            <a:off x="428625" y="3960512"/>
            <a:ext cx="4000500" cy="28575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45" name="Shape 42"/>
          <p:cNvSpPr/>
          <p:nvPr/>
        </p:nvSpPr>
        <p:spPr>
          <a:xfrm>
            <a:off x="4414838" y="3960512"/>
            <a:ext cx="14288" cy="89723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Shape 43"/>
          <p:cNvSpPr/>
          <p:nvPr/>
        </p:nvSpPr>
        <p:spPr>
          <a:xfrm>
            <a:off x="428625" y="4843463"/>
            <a:ext cx="40005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428625" y="3960512"/>
            <a:ext cx="14288" cy="89723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5"/>
          <p:cNvSpPr/>
          <p:nvPr/>
        </p:nvSpPr>
        <p:spPr>
          <a:xfrm>
            <a:off x="607219" y="4139105"/>
            <a:ext cx="36290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核心价值</a:t>
            </a:r>
            <a:endParaRPr lang="en-US" sz="987" dirty="0"/>
          </a:p>
        </p:txBody>
      </p:sp>
      <p:sp>
        <p:nvSpPr>
          <p:cNvPr id="49" name="Text 46"/>
          <p:cNvSpPr/>
          <p:nvPr/>
        </p:nvSpPr>
        <p:spPr>
          <a:xfrm>
            <a:off x="607219" y="4453430"/>
            <a:ext cx="36290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所有支撑内容可直接复用，降低重复建设成本，提升跨产品一致性。</a:t>
            </a:r>
            <a:endParaRPr lang="en-US" sz="834" dirty="0"/>
          </a:p>
        </p:txBody>
      </p:sp>
      <p:sp>
        <p:nvSpPr>
          <p:cNvPr id="50" name="Shape 47"/>
          <p:cNvSpPr/>
          <p:nvPr/>
        </p:nvSpPr>
        <p:spPr>
          <a:xfrm>
            <a:off x="4700588" y="3960512"/>
            <a:ext cx="4014788" cy="89723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1" name="Shape 48"/>
          <p:cNvSpPr/>
          <p:nvPr/>
        </p:nvSpPr>
        <p:spPr>
          <a:xfrm>
            <a:off x="4700588" y="3960512"/>
            <a:ext cx="4014788" cy="2857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2" name="Shape 49"/>
          <p:cNvSpPr/>
          <p:nvPr/>
        </p:nvSpPr>
        <p:spPr>
          <a:xfrm>
            <a:off x="8701088" y="3960512"/>
            <a:ext cx="14288" cy="89723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4700588" y="4843463"/>
            <a:ext cx="4014788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Shape 51"/>
          <p:cNvSpPr/>
          <p:nvPr/>
        </p:nvSpPr>
        <p:spPr>
          <a:xfrm>
            <a:off x="4700588" y="3960512"/>
            <a:ext cx="14288" cy="89723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2"/>
          <p:cNvSpPr/>
          <p:nvPr/>
        </p:nvSpPr>
        <p:spPr>
          <a:xfrm>
            <a:off x="4893469" y="4181968"/>
            <a:ext cx="3643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医疗合规保障</a:t>
            </a:r>
            <a:endParaRPr lang="en-US" sz="987" dirty="0"/>
          </a:p>
        </p:txBody>
      </p:sp>
      <p:sp>
        <p:nvSpPr>
          <p:cNvPr id="56" name="Text 53"/>
          <p:cNvSpPr/>
          <p:nvPr/>
        </p:nvSpPr>
        <p:spPr>
          <a:xfrm>
            <a:off x="4893469" y="4496293"/>
            <a:ext cx="3643313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上线前合规审查 + 培训机制，确保每个产品通过医疗行业监管要求。</a:t>
            </a:r>
            <a:endParaRPr lang="en-US" sz="83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Coding五人战队，AI原生交付方法论落地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五人配置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409105"/>
            <a:ext cx="1371600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625" y="1409105"/>
            <a:ext cx="1371600" cy="35004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产品经理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1885950" y="1409105"/>
            <a:ext cx="1371600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85950" y="1409105"/>
            <a:ext cx="1371600" cy="35004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AI架构师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3343275" y="1409105"/>
            <a:ext cx="1371600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43275" y="1409105"/>
            <a:ext cx="1371600" cy="35004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后端工程师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28625" y="1830586"/>
            <a:ext cx="2100263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625" y="1830586"/>
            <a:ext cx="2100263" cy="35004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前端工程师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2614613" y="1830586"/>
            <a:ext cx="2100263" cy="35004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14613" y="1830586"/>
            <a:ext cx="2100263" cy="350044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算法工程师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2380655"/>
            <a:ext cx="1475184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CODING工作流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2744986"/>
            <a:ext cx="4286250" cy="2053828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2931" y="2873573"/>
            <a:ext cx="1176347" cy="33575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2931" y="2873573"/>
            <a:ext cx="1176347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1785938" y="2941439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1964531" y="2873573"/>
            <a:ext cx="1185863" cy="308967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64531" y="2873573"/>
            <a:ext cx="1185863" cy="30896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3176569" y="2941439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87" dirty="0"/>
          </a:p>
        </p:txBody>
      </p:sp>
      <p:sp>
        <p:nvSpPr>
          <p:cNvPr id="25" name="Shape 22"/>
          <p:cNvSpPr/>
          <p:nvPr/>
        </p:nvSpPr>
        <p:spPr>
          <a:xfrm>
            <a:off x="3355163" y="2873573"/>
            <a:ext cx="1195378" cy="308967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55163" y="2873573"/>
            <a:ext cx="1195378" cy="30896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 Coding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448770" y="3287911"/>
            <a:ext cx="13751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987" dirty="0"/>
          </a:p>
        </p:txBody>
      </p:sp>
      <p:sp>
        <p:nvSpPr>
          <p:cNvPr id="28" name="Shape 25"/>
          <p:cNvSpPr/>
          <p:nvPr/>
        </p:nvSpPr>
        <p:spPr>
          <a:xfrm>
            <a:off x="592931" y="3568303"/>
            <a:ext cx="1176347" cy="33575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2931" y="3568303"/>
            <a:ext cx="1176347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知识库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1785938" y="3649563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1964531" y="3568303"/>
            <a:ext cx="1185863" cy="33575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964531" y="3568303"/>
            <a:ext cx="1185863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回放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3176569" y="3649563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</a:t>
            </a:r>
            <a:endParaRPr lang="en-US" sz="987" dirty="0"/>
          </a:p>
        </p:txBody>
      </p:sp>
      <p:sp>
        <p:nvSpPr>
          <p:cNvPr id="34" name="Shape 31"/>
          <p:cNvSpPr/>
          <p:nvPr/>
        </p:nvSpPr>
        <p:spPr>
          <a:xfrm>
            <a:off x="3355163" y="3568303"/>
            <a:ext cx="1195378" cy="33575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55163" y="3568303"/>
            <a:ext cx="1195378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自测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557213" y="3982641"/>
            <a:ext cx="13751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987" dirty="0"/>
          </a:p>
        </p:txBody>
      </p:sp>
      <p:sp>
        <p:nvSpPr>
          <p:cNvPr id="37" name="Shape 34"/>
          <p:cNvSpPr/>
          <p:nvPr/>
        </p:nvSpPr>
        <p:spPr>
          <a:xfrm>
            <a:off x="592931" y="4263033"/>
            <a:ext cx="1176347" cy="33575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2931" y="4263033"/>
            <a:ext cx="1176347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评审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1785938" y="4344293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87" dirty="0"/>
          </a:p>
        </p:txBody>
      </p:sp>
      <p:sp>
        <p:nvSpPr>
          <p:cNvPr id="40" name="Shape 37"/>
          <p:cNvSpPr/>
          <p:nvPr/>
        </p:nvSpPr>
        <p:spPr>
          <a:xfrm>
            <a:off x="1964531" y="4276427"/>
            <a:ext cx="1185863" cy="308967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64531" y="4276427"/>
            <a:ext cx="1185863" cy="308967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3176569" y="4344293"/>
            <a:ext cx="1428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987" dirty="0"/>
          </a:p>
        </p:txBody>
      </p:sp>
      <p:sp>
        <p:nvSpPr>
          <p:cNvPr id="43" name="Shape 40"/>
          <p:cNvSpPr/>
          <p:nvPr/>
        </p:nvSpPr>
        <p:spPr>
          <a:xfrm>
            <a:off x="3355163" y="4263033"/>
            <a:ext cx="1195378" cy="335756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355163" y="4263033"/>
            <a:ext cx="1195378" cy="3357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数据/合规校验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5143500" y="1044773"/>
            <a:ext cx="900113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三大核心机制</a:t>
            </a:r>
            <a:endParaRPr lang="en-US" sz="987" dirty="0"/>
          </a:p>
        </p:txBody>
      </p:sp>
      <p:sp>
        <p:nvSpPr>
          <p:cNvPr id="46" name="Text 43"/>
          <p:cNvSpPr/>
          <p:nvPr/>
        </p:nvSpPr>
        <p:spPr>
          <a:xfrm>
            <a:off x="5279231" y="1409105"/>
            <a:ext cx="1982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93" dirty="0"/>
          </a:p>
        </p:txBody>
      </p:sp>
      <p:sp>
        <p:nvSpPr>
          <p:cNvPr id="47" name="Text 44"/>
          <p:cNvSpPr/>
          <p:nvPr/>
        </p:nvSpPr>
        <p:spPr>
          <a:xfrm>
            <a:off x="5584627" y="1409105"/>
            <a:ext cx="2737842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Prompt留存</a:t>
            </a:r>
            <a:endParaRPr lang="en-US" sz="885" dirty="0"/>
          </a:p>
        </p:txBody>
      </p:sp>
      <p:sp>
        <p:nvSpPr>
          <p:cNvPr id="48" name="Text 45"/>
          <p:cNvSpPr/>
          <p:nvPr/>
        </p:nvSpPr>
        <p:spPr>
          <a:xfrm>
            <a:off x="5584627" y="1632347"/>
            <a:ext cx="27378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每次AI辅助开发的提示词全部归档，可复现、可审计。</a:t>
            </a:r>
            <a:endParaRPr lang="en-US" sz="834" dirty="0"/>
          </a:p>
        </p:txBody>
      </p:sp>
      <p:sp>
        <p:nvSpPr>
          <p:cNvPr id="49" name="Text 46"/>
          <p:cNvSpPr/>
          <p:nvPr/>
        </p:nvSpPr>
        <p:spPr>
          <a:xfrm>
            <a:off x="5279231" y="1946672"/>
            <a:ext cx="2321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93" dirty="0"/>
          </a:p>
        </p:txBody>
      </p:sp>
      <p:sp>
        <p:nvSpPr>
          <p:cNvPr id="50" name="Text 47"/>
          <p:cNvSpPr/>
          <p:nvPr/>
        </p:nvSpPr>
        <p:spPr>
          <a:xfrm>
            <a:off x="5618559" y="1946672"/>
            <a:ext cx="20574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知识库同步</a:t>
            </a:r>
            <a:endParaRPr lang="en-US" sz="885" dirty="0"/>
          </a:p>
        </p:txBody>
      </p:sp>
      <p:sp>
        <p:nvSpPr>
          <p:cNvPr id="51" name="Text 48"/>
          <p:cNvSpPr/>
          <p:nvPr/>
        </p:nvSpPr>
        <p:spPr>
          <a:xfrm>
            <a:off x="5618559" y="2169914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开发经验实时沉淀，团队知识持续积累。</a:t>
            </a:r>
            <a:endParaRPr lang="en-US" sz="834" dirty="0"/>
          </a:p>
        </p:txBody>
      </p:sp>
      <p:sp>
        <p:nvSpPr>
          <p:cNvPr id="52" name="Text 49"/>
          <p:cNvSpPr/>
          <p:nvPr/>
        </p:nvSpPr>
        <p:spPr>
          <a:xfrm>
            <a:off x="5279231" y="2484239"/>
            <a:ext cx="2357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93" dirty="0"/>
          </a:p>
        </p:txBody>
      </p:sp>
      <p:sp>
        <p:nvSpPr>
          <p:cNvPr id="53" name="Text 50"/>
          <p:cNvSpPr/>
          <p:nvPr/>
        </p:nvSpPr>
        <p:spPr>
          <a:xfrm>
            <a:off x="5622131" y="2484239"/>
            <a:ext cx="19431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Checklist门禁</a:t>
            </a:r>
            <a:endParaRPr lang="en-US" sz="885" dirty="0"/>
          </a:p>
        </p:txBody>
      </p:sp>
      <p:sp>
        <p:nvSpPr>
          <p:cNvPr id="54" name="Text 51"/>
          <p:cNvSpPr/>
          <p:nvPr/>
        </p:nvSpPr>
        <p:spPr>
          <a:xfrm>
            <a:off x="5622131" y="2707481"/>
            <a:ext cx="1943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每个交付节点必须通过质量检查清单。</a:t>
            </a:r>
            <a:endParaRPr lang="en-US" sz="834" dirty="0"/>
          </a:p>
        </p:txBody>
      </p:sp>
      <p:sp>
        <p:nvSpPr>
          <p:cNvPr id="55" name="Shape 52"/>
          <p:cNvSpPr/>
          <p:nvPr/>
        </p:nvSpPr>
        <p:spPr>
          <a:xfrm>
            <a:off x="5143500" y="3975888"/>
            <a:ext cx="3571875" cy="939012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56" name="Text 53"/>
          <p:cNvSpPr/>
          <p:nvPr/>
        </p:nvSpPr>
        <p:spPr>
          <a:xfrm>
            <a:off x="5300663" y="4133050"/>
            <a:ext cx="32575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交付效率</a:t>
            </a:r>
            <a:endParaRPr lang="en-US" sz="885" dirty="0"/>
          </a:p>
        </p:txBody>
      </p:sp>
      <p:sp>
        <p:nvSpPr>
          <p:cNvPr id="57" name="Text 54"/>
          <p:cNvSpPr/>
          <p:nvPr/>
        </p:nvSpPr>
        <p:spPr>
          <a:xfrm>
            <a:off x="5300663" y="4392011"/>
            <a:ext cx="32575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AI原生开发方法显著提升交付速度，降低人力成本，实现高质量、高效率的产品迭代。</a:t>
            </a:r>
            <a:endParaRPr lang="en-US" sz="83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187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7586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五阶段落地路径，方法论与工具链全程对齐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830461"/>
            <a:ext cx="1050131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五阶段执行路径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194792"/>
            <a:ext cx="8286750" cy="562570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1337667"/>
            <a:ext cx="146304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034546" y="1358205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205996" y="1337667"/>
            <a:ext cx="146304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669041" y="1358205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840491" y="1337667"/>
            <a:ext cx="146304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303537" y="1358205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474987" y="1337667"/>
            <a:ext cx="146304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938032" y="1358205"/>
            <a:ext cx="1714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7109482" y="1337667"/>
            <a:ext cx="146304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归档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428625" y="1871663"/>
            <a:ext cx="1650206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各阶段方法论与工具对应</a:t>
            </a:r>
            <a:endParaRPr lang="en-US" sz="987" dirty="0"/>
          </a:p>
        </p:txBody>
      </p:sp>
      <p:sp>
        <p:nvSpPr>
          <p:cNvPr id="18" name="Shape 15"/>
          <p:cNvSpPr/>
          <p:nvPr/>
        </p:nvSpPr>
        <p:spPr>
          <a:xfrm>
            <a:off x="428625" y="2235994"/>
            <a:ext cx="1243013" cy="36254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2591395"/>
            <a:ext cx="124301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2235994"/>
            <a:ext cx="1243013" cy="36254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阶段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1671638" y="2235994"/>
            <a:ext cx="4060971" cy="36254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1671638" y="2591395"/>
            <a:ext cx="4060971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0"/>
          <p:cNvSpPr/>
          <p:nvPr/>
        </p:nvSpPr>
        <p:spPr>
          <a:xfrm>
            <a:off x="1671638" y="2235994"/>
            <a:ext cx="4060971" cy="36254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方法论</a:t>
            </a:r>
            <a:endParaRPr lang="en-US" sz="885" dirty="0"/>
          </a:p>
        </p:txBody>
      </p:sp>
      <p:sp>
        <p:nvSpPr>
          <p:cNvPr id="24" name="Shape 21"/>
          <p:cNvSpPr/>
          <p:nvPr/>
        </p:nvSpPr>
        <p:spPr>
          <a:xfrm>
            <a:off x="5732608" y="2235994"/>
            <a:ext cx="2982767" cy="36254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5732608" y="2591395"/>
            <a:ext cx="298276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5732608" y="2235994"/>
            <a:ext cx="2982767" cy="36254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工具链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428625" y="2594967"/>
            <a:ext cx="1243013" cy="36254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1821656" y="2705695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度量体系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2432447" y="2705695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2552105" y="2705695"/>
            <a:ext cx="501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KPI定义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5732608" y="2594967"/>
            <a:ext cx="2982767" cy="36254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需求覆盖度报告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428625" y="2957513"/>
            <a:ext cx="1243013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1821656" y="3071813"/>
            <a:ext cx="5393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风险矩阵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2432447" y="3071813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2552105" y="3071813"/>
            <a:ext cx="5447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PRD标准</a:t>
            </a:r>
            <a:endParaRPr lang="en-US" sz="885" dirty="0"/>
          </a:p>
        </p:txBody>
      </p:sp>
      <p:sp>
        <p:nvSpPr>
          <p:cNvPr id="36" name="Text 33"/>
          <p:cNvSpPr/>
          <p:nvPr/>
        </p:nvSpPr>
        <p:spPr>
          <a:xfrm>
            <a:off x="5732608" y="2957513"/>
            <a:ext cx="2982767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Atlassian版本体系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428625" y="3323630"/>
            <a:ext cx="1243013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1821656" y="3437930"/>
            <a:ext cx="5589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RAG规范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2452092" y="3437930"/>
            <a:ext cx="482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2571750" y="3437930"/>
            <a:ext cx="7054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Scrum节奏</a:t>
            </a:r>
            <a:endParaRPr lang="en-US" sz="885" dirty="0"/>
          </a:p>
        </p:txBody>
      </p:sp>
      <p:sp>
        <p:nvSpPr>
          <p:cNvPr id="41" name="Text 38"/>
          <p:cNvSpPr/>
          <p:nvPr/>
        </p:nvSpPr>
        <p:spPr>
          <a:xfrm>
            <a:off x="5732608" y="3323630"/>
            <a:ext cx="2982767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Sprint甘特图</a:t>
            </a:r>
            <a:endParaRPr lang="en-US" sz="942" dirty="0"/>
          </a:p>
        </p:txBody>
      </p:sp>
      <p:sp>
        <p:nvSpPr>
          <p:cNvPr id="42" name="Text 39"/>
          <p:cNvSpPr/>
          <p:nvPr/>
        </p:nvSpPr>
        <p:spPr>
          <a:xfrm>
            <a:off x="428625" y="3689747"/>
            <a:ext cx="1243013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质量</a:t>
            </a:r>
            <a:endParaRPr lang="en-US" sz="885" dirty="0"/>
          </a:p>
        </p:txBody>
      </p:sp>
      <p:sp>
        <p:nvSpPr>
          <p:cNvPr id="43" name="Text 40"/>
          <p:cNvSpPr/>
          <p:nvPr/>
        </p:nvSpPr>
        <p:spPr>
          <a:xfrm>
            <a:off x="1671638" y="3689747"/>
            <a:ext cx="4060971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AC验收标准</a:t>
            </a:r>
            <a:endParaRPr lang="en-US" sz="942" dirty="0"/>
          </a:p>
        </p:txBody>
      </p:sp>
      <p:sp>
        <p:nvSpPr>
          <p:cNvPr id="44" name="Text 41"/>
          <p:cNvSpPr/>
          <p:nvPr/>
        </p:nvSpPr>
        <p:spPr>
          <a:xfrm>
            <a:off x="5732608" y="3689747"/>
            <a:ext cx="2982767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PMI风险管理</a:t>
            </a:r>
            <a:endParaRPr lang="en-US" sz="942" dirty="0"/>
          </a:p>
        </p:txBody>
      </p:sp>
      <p:sp>
        <p:nvSpPr>
          <p:cNvPr id="45" name="Text 42"/>
          <p:cNvSpPr/>
          <p:nvPr/>
        </p:nvSpPr>
        <p:spPr>
          <a:xfrm>
            <a:off x="428625" y="4055864"/>
            <a:ext cx="1243013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归档</a:t>
            </a:r>
            <a:endParaRPr lang="en-US" sz="885" dirty="0"/>
          </a:p>
        </p:txBody>
      </p:sp>
      <p:sp>
        <p:nvSpPr>
          <p:cNvPr id="46" name="Text 43"/>
          <p:cNvSpPr/>
          <p:nvPr/>
        </p:nvSpPr>
        <p:spPr>
          <a:xfrm>
            <a:off x="1671638" y="4055864"/>
            <a:ext cx="4060971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版本演进记录</a:t>
            </a:r>
            <a:endParaRPr lang="en-US" sz="942" dirty="0"/>
          </a:p>
        </p:txBody>
      </p:sp>
      <p:sp>
        <p:nvSpPr>
          <p:cNvPr id="47" name="Text 44"/>
          <p:cNvSpPr/>
          <p:nvPr/>
        </p:nvSpPr>
        <p:spPr>
          <a:xfrm>
            <a:off x="5732608" y="4055864"/>
            <a:ext cx="2982767" cy="366117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知识库SOP</a:t>
            </a:r>
            <a:endParaRPr lang="en-US" sz="94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三条价值线驱动效率、合规与决策全面提升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1044773"/>
            <a:ext cx="1050131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三条核心价值线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480542"/>
            <a:ext cx="1071563" cy="47684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950244"/>
            <a:ext cx="107156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480542"/>
            <a:ext cx="1071563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价值线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1500188" y="1480542"/>
            <a:ext cx="1707970" cy="47684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1500188" y="1950244"/>
            <a:ext cx="170797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1500188" y="1480542"/>
            <a:ext cx="1707970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具体体现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3208158" y="1480542"/>
            <a:ext cx="1506717" cy="47684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8158" y="1950244"/>
            <a:ext cx="1506717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3208158" y="1480542"/>
            <a:ext cx="1506717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28625" y="1953816"/>
            <a:ext cx="1071563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岗位效率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500188" y="1953816"/>
            <a:ext cx="1707970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自动记录 / 提醒 / 随访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208158" y="1953816"/>
            <a:ext cx="1506717" cy="47684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人均效率提升30%+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28625" y="2430661"/>
            <a:ext cx="1071563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流程合规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1500188" y="2430661"/>
            <a:ext cx="1707970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合规专题 + AC验收标准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3208158" y="2430661"/>
            <a:ext cx="1506717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零重大合规事件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28625" y="2911078"/>
            <a:ext cx="1071563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决策智能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1500188" y="2911078"/>
            <a:ext cx="1707970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数据分析平台 + AI洞察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3208158" y="2911078"/>
            <a:ext cx="1506717" cy="48041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决策周期缩短50%</a:t>
            </a:r>
            <a:endParaRPr lang="en-US" sz="885" dirty="0"/>
          </a:p>
        </p:txBody>
      </p:sp>
      <p:sp>
        <p:nvSpPr>
          <p:cNvPr id="25" name="Shape 22"/>
          <p:cNvSpPr/>
          <p:nvPr/>
        </p:nvSpPr>
        <p:spPr>
          <a:xfrm>
            <a:off x="5143500" y="1044773"/>
            <a:ext cx="3571875" cy="102334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5143500" y="1044773"/>
            <a:ext cx="28575" cy="102334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7" name="Text 24"/>
          <p:cNvSpPr/>
          <p:nvPr/>
        </p:nvSpPr>
        <p:spPr>
          <a:xfrm>
            <a:off x="5322094" y="1187648"/>
            <a:ext cx="32146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覆盖率里程碑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322094" y="1482328"/>
            <a:ext cx="3214688" cy="16430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V1.4 → V1.6：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覆盖率从65%提升至当前水平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5322094" y="1703784"/>
            <a:ext cx="3214688" cy="164306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目标：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全年覆盖率 ≥ 70%</a:t>
            </a:r>
            <a:endParaRPr lang="en-US" sz="784" dirty="0"/>
          </a:p>
        </p:txBody>
      </p:sp>
      <p:sp>
        <p:nvSpPr>
          <p:cNvPr id="30" name="Shape 27"/>
          <p:cNvSpPr/>
          <p:nvPr/>
        </p:nvSpPr>
        <p:spPr>
          <a:xfrm>
            <a:off x="5143500" y="2282428"/>
            <a:ext cx="3571875" cy="1107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143500" y="2282428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8708231" y="2282428"/>
            <a:ext cx="7144" cy="11075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5143500" y="3382873"/>
            <a:ext cx="357187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1"/>
          <p:cNvSpPr/>
          <p:nvPr/>
        </p:nvSpPr>
        <p:spPr>
          <a:xfrm>
            <a:off x="5143500" y="2282428"/>
            <a:ext cx="28575" cy="1107588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5" name="Text 32"/>
          <p:cNvSpPr/>
          <p:nvPr/>
        </p:nvSpPr>
        <p:spPr>
          <a:xfrm>
            <a:off x="5322094" y="1525191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36" name="Text 33"/>
          <p:cNvSpPr/>
          <p:nvPr/>
        </p:nvSpPr>
        <p:spPr>
          <a:xfrm>
            <a:off x="5322094" y="1746647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37" name="Text 34"/>
          <p:cNvSpPr/>
          <p:nvPr/>
        </p:nvSpPr>
        <p:spPr>
          <a:xfrm>
            <a:off x="5322094" y="2425303"/>
            <a:ext cx="32146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合规信任措施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5322094" y="2684264"/>
            <a:ext cx="32146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医疗合规专题 + AC验收标准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确保每个产品上线前通过严格的合规审查，降低医疗行业特有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的监管风险。</a:t>
            </a:r>
            <a:endParaRPr lang="en-US" sz="834" dirty="0"/>
          </a:p>
        </p:txBody>
      </p:sp>
      <p:sp>
        <p:nvSpPr>
          <p:cNvPr id="39" name="Shape 36"/>
          <p:cNvSpPr/>
          <p:nvPr/>
        </p:nvSpPr>
        <p:spPr>
          <a:xfrm>
            <a:off x="5143500" y="3590041"/>
            <a:ext cx="3571875" cy="109330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Shape 37"/>
          <p:cNvSpPr/>
          <p:nvPr/>
        </p:nvSpPr>
        <p:spPr>
          <a:xfrm>
            <a:off x="5143500" y="3590041"/>
            <a:ext cx="28575" cy="109330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1" name="Text 38"/>
          <p:cNvSpPr/>
          <p:nvPr/>
        </p:nvSpPr>
        <p:spPr>
          <a:xfrm>
            <a:off x="5322094" y="3732916"/>
            <a:ext cx="32146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组织学习资产</a:t>
            </a: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5322094" y="3991877"/>
            <a:ext cx="321468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Claude专题 + Prompt库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持续积累AI应用知识，将个人经验转化为团队资产，提升整体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AI原生开发能力。</a:t>
            </a:r>
            <a:endParaRPr lang="en-US" sz="83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61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187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首年ROI达100.8%，14个月回收投资，三年净收益1456万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787598"/>
            <a:ext cx="1198364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投资构成 (COST)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094780"/>
            <a:ext cx="1500188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393031"/>
            <a:ext cx="1500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094780"/>
            <a:ext cx="1500188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成本项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1928813" y="1094780"/>
            <a:ext cx="2786063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1928813" y="1393031"/>
            <a:ext cx="278606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1928813" y="1094780"/>
            <a:ext cx="2786063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说明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28625" y="1396603"/>
            <a:ext cx="1500188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研发成本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928813" y="1396603"/>
            <a:ext cx="2786063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五人战队人力投入及外部技术咨询费用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28625" y="1701998"/>
            <a:ext cx="1500188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硬件/API成本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928813" y="1701998"/>
            <a:ext cx="2786063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大模型API调用费、云服务器及存储资源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28625" y="2010966"/>
            <a:ext cx="1500188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运营推广成本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1928813" y="2010966"/>
            <a:ext cx="2786063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内部培训、试点科室激励及合规审查费用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28625" y="2437805"/>
            <a:ext cx="1496616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收益预测 (REVENUE)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28625" y="2744986"/>
            <a:ext cx="1500188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043238"/>
            <a:ext cx="15001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2744986"/>
            <a:ext cx="1500188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收益项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1928813" y="2744986"/>
            <a:ext cx="2786063" cy="3053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1928813" y="3043238"/>
            <a:ext cx="278606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1928813" y="2744986"/>
            <a:ext cx="2786063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说明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428625" y="3046809"/>
            <a:ext cx="1500188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成本节约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1928813" y="3046809"/>
            <a:ext cx="2786063" cy="30539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自动化替代手工操作，降低人力成本与加班费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428625" y="3352205"/>
            <a:ext cx="1500188" cy="4964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增量收入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1928813" y="3352205"/>
            <a:ext cx="2786063" cy="49649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方案通过率提升、客户流失率降低带来的直接营收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428625" y="3848695"/>
            <a:ext cx="1500188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隐性收益</a:t>
            </a:r>
            <a:endParaRPr lang="en-US" sz="885" dirty="0"/>
          </a:p>
        </p:txBody>
      </p:sp>
      <p:sp>
        <p:nvSpPr>
          <p:cNvPr id="31" name="Text 28"/>
          <p:cNvSpPr/>
          <p:nvPr/>
        </p:nvSpPr>
        <p:spPr>
          <a:xfrm>
            <a:off x="1928813" y="3848695"/>
            <a:ext cx="2786063" cy="30896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医疗质量提升、合规风险降低避免的潜在损失</a:t>
            </a:r>
            <a:endParaRPr lang="en-US" sz="942" dirty="0"/>
          </a:p>
        </p:txBody>
      </p:sp>
      <p:sp>
        <p:nvSpPr>
          <p:cNvPr id="32" name="Text 29"/>
          <p:cNvSpPr/>
          <p:nvPr/>
        </p:nvSpPr>
        <p:spPr>
          <a:xfrm>
            <a:off x="5143500" y="787598"/>
            <a:ext cx="900113" cy="250031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核心财务指标</a:t>
            </a:r>
            <a:endParaRPr lang="en-US" sz="987" dirty="0"/>
          </a:p>
        </p:txBody>
      </p:sp>
      <p:sp>
        <p:nvSpPr>
          <p:cNvPr id="33" name="Shape 30"/>
          <p:cNvSpPr/>
          <p:nvPr/>
        </p:nvSpPr>
        <p:spPr>
          <a:xfrm>
            <a:off x="5143500" y="1123355"/>
            <a:ext cx="3571875" cy="82153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Shape 31"/>
          <p:cNvSpPr/>
          <p:nvPr/>
        </p:nvSpPr>
        <p:spPr>
          <a:xfrm>
            <a:off x="5143500" y="1123355"/>
            <a:ext cx="357187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2"/>
          <p:cNvSpPr/>
          <p:nvPr/>
        </p:nvSpPr>
        <p:spPr>
          <a:xfrm>
            <a:off x="8701088" y="1123355"/>
            <a:ext cx="14288" cy="82153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3"/>
          <p:cNvSpPr/>
          <p:nvPr/>
        </p:nvSpPr>
        <p:spPr>
          <a:xfrm>
            <a:off x="5143500" y="1930598"/>
            <a:ext cx="357187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5143500" y="1123355"/>
            <a:ext cx="57150" cy="82153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8" name="Text 35"/>
          <p:cNvSpPr/>
          <p:nvPr/>
        </p:nvSpPr>
        <p:spPr>
          <a:xfrm>
            <a:off x="5214938" y="1194792"/>
            <a:ext cx="3429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100.8%</a:t>
            </a:r>
            <a:endParaRPr lang="en-US" sz="2862" dirty="0"/>
          </a:p>
        </p:txBody>
      </p:sp>
      <p:sp>
        <p:nvSpPr>
          <p:cNvPr id="39" name="Text 36"/>
          <p:cNvSpPr/>
          <p:nvPr/>
        </p:nvSpPr>
        <p:spPr>
          <a:xfrm>
            <a:off x="5214938" y="1637705"/>
            <a:ext cx="3429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首年ROI (投资回报率)</a:t>
            </a:r>
            <a:endParaRPr lang="en-US" sz="987" dirty="0"/>
          </a:p>
        </p:txBody>
      </p:sp>
      <p:sp>
        <p:nvSpPr>
          <p:cNvPr id="40" name="Shape 37"/>
          <p:cNvSpPr/>
          <p:nvPr/>
        </p:nvSpPr>
        <p:spPr>
          <a:xfrm>
            <a:off x="5143500" y="1973461"/>
            <a:ext cx="3571875" cy="82153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1" name="Shape 38"/>
          <p:cNvSpPr/>
          <p:nvPr/>
        </p:nvSpPr>
        <p:spPr>
          <a:xfrm>
            <a:off x="5143500" y="1973461"/>
            <a:ext cx="357187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8701088" y="1973461"/>
            <a:ext cx="14288" cy="82153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0"/>
          <p:cNvSpPr/>
          <p:nvPr/>
        </p:nvSpPr>
        <p:spPr>
          <a:xfrm>
            <a:off x="5143500" y="2780705"/>
            <a:ext cx="3571875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1"/>
          <p:cNvSpPr/>
          <p:nvPr/>
        </p:nvSpPr>
        <p:spPr>
          <a:xfrm>
            <a:off x="5143500" y="1973461"/>
            <a:ext cx="57150" cy="82153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5" name="Text 42"/>
          <p:cNvSpPr/>
          <p:nvPr/>
        </p:nvSpPr>
        <p:spPr>
          <a:xfrm>
            <a:off x="5214938" y="2044898"/>
            <a:ext cx="3429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14个月</a:t>
            </a:r>
            <a:endParaRPr lang="en-US" sz="2862" dirty="0"/>
          </a:p>
        </p:txBody>
      </p:sp>
      <p:sp>
        <p:nvSpPr>
          <p:cNvPr id="46" name="Text 43"/>
          <p:cNvSpPr/>
          <p:nvPr/>
        </p:nvSpPr>
        <p:spPr>
          <a:xfrm>
            <a:off x="5214938" y="2487811"/>
            <a:ext cx="3429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投资回收期</a:t>
            </a:r>
            <a:endParaRPr lang="en-US" sz="987" dirty="0"/>
          </a:p>
        </p:txBody>
      </p:sp>
      <p:sp>
        <p:nvSpPr>
          <p:cNvPr id="47" name="Shape 44"/>
          <p:cNvSpPr/>
          <p:nvPr/>
        </p:nvSpPr>
        <p:spPr>
          <a:xfrm>
            <a:off x="5143500" y="2823567"/>
            <a:ext cx="3571875" cy="821531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48" name="Shape 45"/>
          <p:cNvSpPr/>
          <p:nvPr/>
        </p:nvSpPr>
        <p:spPr>
          <a:xfrm>
            <a:off x="5143500" y="2823567"/>
            <a:ext cx="3571875" cy="14288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49" name="Shape 46"/>
          <p:cNvSpPr/>
          <p:nvPr/>
        </p:nvSpPr>
        <p:spPr>
          <a:xfrm>
            <a:off x="8701088" y="2823567"/>
            <a:ext cx="14288" cy="821531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50" name="Shape 47"/>
          <p:cNvSpPr/>
          <p:nvPr/>
        </p:nvSpPr>
        <p:spPr>
          <a:xfrm>
            <a:off x="5143500" y="3630811"/>
            <a:ext cx="3571875" cy="14288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51" name="Shape 48"/>
          <p:cNvSpPr/>
          <p:nvPr/>
        </p:nvSpPr>
        <p:spPr>
          <a:xfrm>
            <a:off x="5143500" y="2823567"/>
            <a:ext cx="57150" cy="821531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2" name="Text 49"/>
          <p:cNvSpPr/>
          <p:nvPr/>
        </p:nvSpPr>
        <p:spPr>
          <a:xfrm>
            <a:off x="5214938" y="2895005"/>
            <a:ext cx="34290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1456万</a:t>
            </a:r>
            <a:endParaRPr lang="en-US" sz="2862" dirty="0"/>
          </a:p>
        </p:txBody>
      </p:sp>
      <p:sp>
        <p:nvSpPr>
          <p:cNvPr id="53" name="Text 50"/>
          <p:cNvSpPr/>
          <p:nvPr/>
        </p:nvSpPr>
        <p:spPr>
          <a:xfrm>
            <a:off x="5214938" y="3337917"/>
            <a:ext cx="3429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三年累计净收益</a:t>
            </a:r>
            <a:endParaRPr lang="en-US" sz="98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TOP3红色风险已有明确对策，风险可控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42913" y="1059061"/>
            <a:ext cx="2590809" cy="5125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4"/>
          <p:cNvSpPr/>
          <p:nvPr/>
        </p:nvSpPr>
        <p:spPr>
          <a:xfrm>
            <a:off x="585788" y="1201936"/>
            <a:ext cx="1151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 医疗合规风险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2419359" y="1201936"/>
            <a:ext cx="4714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高风险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442913" y="1571625"/>
            <a:ext cx="2590809" cy="156657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7"/>
          <p:cNvSpPr/>
          <p:nvPr/>
        </p:nvSpPr>
        <p:spPr>
          <a:xfrm>
            <a:off x="621506" y="1750219"/>
            <a:ext cx="2233622" cy="18752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触发条件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21506" y="2009180"/>
            <a:ext cx="223362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AI生成错误医疗建议导致纠纷。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21506" y="2334918"/>
            <a:ext cx="2233622" cy="18752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应对策略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21506" y="2593879"/>
            <a:ext cx="2233622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引入“医生确认”强卡点，所有AI建议必须经人工审核；建立合规词库拦截敏感词。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3276609" y="1059061"/>
            <a:ext cx="2590809" cy="512564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5" name="Text 12"/>
          <p:cNvSpPr/>
          <p:nvPr/>
        </p:nvSpPr>
        <p:spPr>
          <a:xfrm>
            <a:off x="3419484" y="1201936"/>
            <a:ext cx="149661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核心系统对接延迟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5253056" y="1201936"/>
            <a:ext cx="4714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高风险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3276609" y="1571625"/>
            <a:ext cx="2590809" cy="156657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3455203" y="1750219"/>
            <a:ext cx="2233622" cy="18752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触发条件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3455203" y="2009180"/>
            <a:ext cx="223362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HIS/CRM接口开发排期冲突。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455203" y="2334918"/>
            <a:ext cx="2233622" cy="18752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应对策略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3455203" y="2593879"/>
            <a:ext cx="2233622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提前锁定Q2接口排期，采用Mock数据并行开发前端与AI逻辑。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6110306" y="1059061"/>
            <a:ext cx="2590809" cy="512564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3" name="Text 20"/>
          <p:cNvSpPr/>
          <p:nvPr/>
        </p:nvSpPr>
        <p:spPr>
          <a:xfrm>
            <a:off x="6253181" y="1201936"/>
            <a:ext cx="13430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 医生使用意愿低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8086753" y="1201936"/>
            <a:ext cx="47148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中风险</a:t>
            </a:r>
            <a:endParaRPr lang="en-US" sz="1090" dirty="0"/>
          </a:p>
        </p:txBody>
      </p:sp>
      <p:sp>
        <p:nvSpPr>
          <p:cNvPr id="25" name="Shape 22"/>
          <p:cNvSpPr/>
          <p:nvPr/>
        </p:nvSpPr>
        <p:spPr>
          <a:xfrm>
            <a:off x="6110306" y="1571625"/>
            <a:ext cx="2590809" cy="156657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3"/>
          <p:cNvSpPr/>
          <p:nvPr/>
        </p:nvSpPr>
        <p:spPr>
          <a:xfrm>
            <a:off x="6288900" y="1750219"/>
            <a:ext cx="2233622" cy="18752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触发条件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6288900" y="2009180"/>
            <a:ext cx="223362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改变现有习惯，初期效率不升反降。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6288900" y="2334918"/>
            <a:ext cx="2233622" cy="187523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应对策略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6288900" y="2593879"/>
            <a:ext cx="2233622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选取种子科室试点，打造标杆案例；将AI使用率纳入科室创新考核。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428625" y="4016239"/>
            <a:ext cx="8286750" cy="841511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1" name="Text 28"/>
          <p:cNvSpPr/>
          <p:nvPr/>
        </p:nvSpPr>
        <p:spPr>
          <a:xfrm>
            <a:off x="607219" y="4194832"/>
            <a:ext cx="79295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风险管理结论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607219" y="4473439"/>
            <a:ext cx="79295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核心红色风险均已制定前置干预措施与应急预案，整体项目风险处于可控范围内，不会对Q2核心交付里程碑造成实质性阻碍。</a:t>
            </a:r>
            <a:endParaRPr lang="en-US" sz="942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331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5902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四重质控机制确保数据真实、上线可信、可通过审计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42913" y="1059061"/>
            <a:ext cx="4050506" cy="3357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Shape 4"/>
          <p:cNvSpPr/>
          <p:nvPr/>
        </p:nvSpPr>
        <p:spPr>
          <a:xfrm>
            <a:off x="442913" y="1380530"/>
            <a:ext cx="4050506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585788" y="1116211"/>
            <a:ext cx="319683" cy="20716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1012627" y="1116211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数据真实性校验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442913" y="1380530"/>
            <a:ext cx="4050506" cy="794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28638" y="1466255"/>
            <a:ext cx="38790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建立多源数据交叉验证机制，确保病历、问诊及经营数据的准确输入与输出，杜绝AI幻觉导致的错误信息。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28638" y="1903419"/>
            <a:ext cx="1973461" cy="185738"/>
          </a:xfrm>
          <a:prstGeom prst="rect">
            <a:avLst/>
          </a:prstGeom>
          <a:noFill/>
          <a:ln/>
        </p:spPr>
        <p:txBody>
          <a:bodyPr wrap="none" lIns="0" tIns="0" rIns="0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核心手段：RAG架构优化 + 数据源追溯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4650581" y="1059061"/>
            <a:ext cx="4050506" cy="3357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650581" y="1380530"/>
            <a:ext cx="4050506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4793456" y="1116211"/>
            <a:ext cx="353616" cy="20716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254228" y="1116211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上线可信门禁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4650581" y="1380530"/>
            <a:ext cx="4050506" cy="794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736306" y="1466255"/>
            <a:ext cx="38790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执行严格的发布前检查，所有AI功能必须通过标准化测试用例与自测回放，确保系统稳定性与可用性。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736306" y="1903419"/>
            <a:ext cx="2105620" cy="185738"/>
          </a:xfrm>
          <a:prstGeom prst="rect">
            <a:avLst/>
          </a:prstGeom>
          <a:noFill/>
          <a:ln/>
        </p:spPr>
        <p:txBody>
          <a:bodyPr wrap="none" lIns="0" tIns="0" rIns="0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核心手段：Checklist门禁 + AC验收标准</a:t>
            </a:r>
            <a:endParaRPr lang="en-US" sz="784" dirty="0"/>
          </a:p>
        </p:txBody>
      </p:sp>
      <p:sp>
        <p:nvSpPr>
          <p:cNvPr id="20" name="Shape 17"/>
          <p:cNvSpPr/>
          <p:nvPr/>
        </p:nvSpPr>
        <p:spPr>
          <a:xfrm>
            <a:off x="442913" y="2332044"/>
            <a:ext cx="4050506" cy="3357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442913" y="2653512"/>
            <a:ext cx="4050506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585788" y="2389194"/>
            <a:ext cx="357188" cy="20716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1050131" y="2389194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医疗合规审查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442913" y="2653512"/>
            <a:ext cx="4050506" cy="794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28638" y="2739237"/>
            <a:ext cx="38790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将医疗行业法规与伦理要求内化于产品设计中，AI建议均附带合规提示，确保临床与咨询过程规范。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528638" y="3176401"/>
            <a:ext cx="2068116" cy="185738"/>
          </a:xfrm>
          <a:prstGeom prst="rect">
            <a:avLst/>
          </a:prstGeom>
          <a:noFill/>
          <a:ln/>
        </p:spPr>
        <p:txBody>
          <a:bodyPr wrap="none" lIns="0" tIns="0" rIns="0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核心手段：合规专题评审 + 风险矩阵拦截</a:t>
            </a:r>
            <a:endParaRPr lang="en-US" sz="784" dirty="0"/>
          </a:p>
        </p:txBody>
      </p:sp>
      <p:sp>
        <p:nvSpPr>
          <p:cNvPr id="27" name="Shape 24"/>
          <p:cNvSpPr/>
          <p:nvPr/>
        </p:nvSpPr>
        <p:spPr>
          <a:xfrm>
            <a:off x="4650581" y="2332044"/>
            <a:ext cx="4050506" cy="3357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4650581" y="2653512"/>
            <a:ext cx="4050506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6"/>
          <p:cNvSpPr/>
          <p:nvPr/>
        </p:nvSpPr>
        <p:spPr>
          <a:xfrm>
            <a:off x="4793456" y="2389194"/>
            <a:ext cx="362545" cy="20716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5263158" y="2389194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全流程审计追溯</a:t>
            </a:r>
            <a:endParaRPr lang="en-US" sz="987" dirty="0"/>
          </a:p>
        </p:txBody>
      </p:sp>
      <p:sp>
        <p:nvSpPr>
          <p:cNvPr id="31" name="Shape 28"/>
          <p:cNvSpPr/>
          <p:nvPr/>
        </p:nvSpPr>
        <p:spPr>
          <a:xfrm>
            <a:off x="4650581" y="2653512"/>
            <a:ext cx="4050506" cy="794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4736306" y="2739237"/>
            <a:ext cx="387905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完整记录AI辅助开发与运行过程中的关键决策与提示词，满足内部审计与外部监管的追溯要求。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4736306" y="3176401"/>
            <a:ext cx="2030611" cy="185738"/>
          </a:xfrm>
          <a:prstGeom prst="rect">
            <a:avLst/>
          </a:prstGeom>
          <a:noFill/>
          <a:ln/>
        </p:spPr>
        <p:txBody>
          <a:bodyPr wrap="none" lIns="0" tIns="0" rIns="0" bIns="1701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核心手段：Prompt留存 + 版本演进记录</a:t>
            </a:r>
            <a:endParaRPr lang="en-US" sz="784" dirty="0"/>
          </a:p>
        </p:txBody>
      </p:sp>
      <p:sp>
        <p:nvSpPr>
          <p:cNvPr id="34" name="Shape 31"/>
          <p:cNvSpPr/>
          <p:nvPr/>
        </p:nvSpPr>
        <p:spPr>
          <a:xfrm>
            <a:off x="428625" y="3705039"/>
            <a:ext cx="8286750" cy="918642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3705039"/>
            <a:ext cx="57150" cy="91864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6" name="Text 33"/>
          <p:cNvSpPr/>
          <p:nvPr/>
        </p:nvSpPr>
        <p:spPr>
          <a:xfrm>
            <a:off x="642938" y="3819339"/>
            <a:ext cx="7858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医疗行业特殊要求响应</a:t>
            </a:r>
            <a:endParaRPr lang="en-US" sz="987" dirty="0"/>
          </a:p>
        </p:txBody>
      </p:sp>
      <p:sp>
        <p:nvSpPr>
          <p:cNvPr id="37" name="Text 34"/>
          <p:cNvSpPr/>
          <p:nvPr/>
        </p:nvSpPr>
        <p:spPr>
          <a:xfrm>
            <a:off x="642938" y="4097945"/>
            <a:ext cx="78581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医疗行业对数据隐私、临床安全与合规性要求极高。四重质控机制是我们跨越监管门槛、建立用户信任、实现AI产品规模化落地的生命线。</a:t>
            </a:r>
            <a:endParaRPr lang="en-US" sz="942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700088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Q2交付关键功能，全年推进9大产品稳定迭代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428625" y="1000125"/>
            <a:ext cx="4000500" cy="1314450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000125"/>
            <a:ext cx="3986213" cy="428625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000125"/>
            <a:ext cx="3986213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关键目标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1571625"/>
            <a:ext cx="37004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核心场景落地与系统打通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1848780"/>
            <a:ext cx="370046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交付P1-P4核心功能，打通HIS/CRM接口，完成种子科室试点，验证AI提效逻辑。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700588" y="1000125"/>
            <a:ext cx="4014788" cy="1314450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14875" y="1000125"/>
            <a:ext cx="4000500" cy="428625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3" name="Text 10"/>
          <p:cNvSpPr/>
          <p:nvPr/>
        </p:nvSpPr>
        <p:spPr>
          <a:xfrm>
            <a:off x="4714875" y="1000125"/>
            <a:ext cx="4000500" cy="428625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全年核心指标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857750" y="1571625"/>
            <a:ext cx="3714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规模化应用与价值兑现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857750" y="1848780"/>
            <a:ext cx="3714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9大产品稳定迭代，需求覆盖率 ≥ 70%，实现首年ROI 100.8%，构建医疗AI护城河。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28625" y="2571750"/>
            <a:ext cx="8286750" cy="200025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2571750"/>
            <a:ext cx="57150" cy="200025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571750"/>
            <a:ext cx="8286750" cy="426839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三项决策诉求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642938" y="3262908"/>
            <a:ext cx="24765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8" dirty="0"/>
          </a:p>
        </p:txBody>
      </p:sp>
      <p:sp>
        <p:nvSpPr>
          <p:cNvPr id="20" name="Text 17"/>
          <p:cNvSpPr/>
          <p:nvPr/>
        </p:nvSpPr>
        <p:spPr>
          <a:xfrm>
            <a:off x="642938" y="3591520"/>
            <a:ext cx="24765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批准规划与预算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642938" y="3870127"/>
            <a:ext cx="24765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正式批准V1.6版本产品规划，并下达Q2研发与运营预算。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3333759" y="3262908"/>
            <a:ext cx="24765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8" dirty="0"/>
          </a:p>
        </p:txBody>
      </p:sp>
      <p:sp>
        <p:nvSpPr>
          <p:cNvPr id="23" name="Text 20"/>
          <p:cNvSpPr/>
          <p:nvPr/>
        </p:nvSpPr>
        <p:spPr>
          <a:xfrm>
            <a:off x="3333759" y="3591520"/>
            <a:ext cx="24765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协调系统资源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3333759" y="3870127"/>
            <a:ext cx="24765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协调HIS/CRM等核心系统研发资源，提前锁定Q2接口开发排期。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6024581" y="3262908"/>
            <a:ext cx="24765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2B6C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8" dirty="0"/>
          </a:p>
        </p:txBody>
      </p:sp>
      <p:sp>
        <p:nvSpPr>
          <p:cNvPr id="26" name="Text 23"/>
          <p:cNvSpPr/>
          <p:nvPr/>
        </p:nvSpPr>
        <p:spPr>
          <a:xfrm>
            <a:off x="6024581" y="3591520"/>
            <a:ext cx="24765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授权科室试点</a:t>
            </a:r>
            <a:endParaRPr lang="en-US" sz="987" dirty="0"/>
          </a:p>
        </p:txBody>
      </p:sp>
      <p:sp>
        <p:nvSpPr>
          <p:cNvPr id="27" name="Text 24"/>
          <p:cNvSpPr/>
          <p:nvPr/>
        </p:nvSpPr>
        <p:spPr>
          <a:xfrm>
            <a:off x="6024581" y="3870127"/>
            <a:ext cx="24765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授权选取2-3个核心业务科室作为首批AI应用试点，给予创新考核激励。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2026-03-19T03:45:48Z</dcterms:created>
  <dcterms:modified xsi:type="dcterms:W3CDTF">2026-03-19T03:45:48Z</dcterms:modified>
</cp:coreProperties>
</file>